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AI Trends 2025-2026: The Age of Agentic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IT Team Knowledge Sharing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The Past Year in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2024.11</a:t>
            </a:r>
            <a:r>
              <a:rPr b="0">
                <a:ea typeface="Apple SD Gothic Neo"/>
                <a:latin typeface="Apple SD Gothic Neo"/>
              </a:rPr>
              <a:t> MCP announced (Anthropic) — AI-to-tool connectivity standard emerges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2025.01</a:t>
            </a:r>
            <a:r>
              <a:rPr b="0">
                <a:ea typeface="Apple SD Gothic Neo"/>
                <a:latin typeface="Apple SD Gothic Neo"/>
              </a:rPr>
              <a:t> DeepSeek R1 released — open-source shockwave, price war begins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2025.02</a:t>
            </a:r>
            <a:r>
              <a:rPr b="0">
                <a:ea typeface="Apple SD Gothic Neo"/>
                <a:latin typeface="Apple SD Gothic Neo"/>
              </a:rPr>
              <a:t> "Vibe Coding" coined (Karpathy) — writing code without reading it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2025.03</a:t>
            </a:r>
            <a:r>
              <a:rPr b="0">
                <a:ea typeface="Apple SD Gothic Neo"/>
                <a:latin typeface="Apple SD Gothic Neo"/>
              </a:rPr>
              <a:t> OpenAI Agents SDK — agent framework competition heats up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2025.05</a:t>
            </a:r>
            <a:r>
              <a:rPr b="0">
                <a:ea typeface="Apple SD Gothic Neo"/>
                <a:latin typeface="Apple SD Gothic Neo"/>
              </a:rPr>
              <a:t> Claude Code launched — CLI-based AI agents begin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2025.09</a:t>
            </a:r>
            <a:r>
              <a:rPr b="0">
                <a:ea typeface="Apple SD Gothic Neo"/>
                <a:latin typeface="Apple SD Gothic Neo"/>
              </a:rPr>
              <a:t> Notion 3.0 AI Agents — services embed their own AI agents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2025.10</a:t>
            </a:r>
            <a:r>
              <a:rPr b="0">
                <a:ea typeface="Apple SD Gothic Neo"/>
                <a:latin typeface="Apple SD Gothic Neo"/>
              </a:rPr>
              <a:t> n8n Series C $180M (Nvidia) — massive bet on workflow + AI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2025.12</a:t>
            </a:r>
            <a:r>
              <a:rPr b="0">
                <a:ea typeface="Apple SD Gothic Neo"/>
                <a:latin typeface="Apple SD Gothic Neo"/>
              </a:rPr>
              <a:t> MCP → Linux Foundation — standard established, industry moves on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2026.01</a:t>
            </a:r>
            <a:r>
              <a:rPr b="0">
                <a:ea typeface="Apple SD Gothic Neo"/>
                <a:latin typeface="Apple SD Gothic Neo"/>
              </a:rPr>
              <a:t> OpenClaw viral (250K stars) — peak and controversy of vibe coding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2026.02</a:t>
            </a:r>
            <a:r>
              <a:rPr b="0">
                <a:ea typeface="Apple SD Gothic Neo"/>
                <a:latin typeface="Apple SD Gothic Neo"/>
              </a:rPr>
              <a:t> Claude 4.6 / Karpathy: "Vibe coding is behind us" — agentic engineering era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In one line:</a:t>
            </a:r>
            <a:r>
              <a:rPr b="0">
                <a:ea typeface="Apple SD Gothic Neo"/>
                <a:latin typeface="Apple SD Gothic Neo"/>
              </a:rPr>
              <a:t> AI evolves from "conversation tool" → "working agent" → "a team that runs systems."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The LLM Race: A Five-Way Battle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/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Big 5: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OpenAI</a:t>
            </a:r>
            <a:r>
              <a:rPr b="0">
                <a:ea typeface="Apple SD Gothic Neo"/>
                <a:latin typeface="Apple SD Gothic Neo"/>
              </a:rPr>
              <a:t> — GPT-4.1, o3, o4-mini: Reasoning-focused, 1M tokens, price competitive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Anthropic</a:t>
            </a:r>
            <a:r>
              <a:rPr b="0">
                <a:ea typeface="Apple SD Gothic Neo"/>
                <a:latin typeface="Apple SD Gothic Neo"/>
              </a:rPr>
              <a:t> — Claude Sonnet/Opus 4.6: #1 coding, 30h+ autonomous tasks, agent teams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Google</a:t>
            </a:r>
            <a:r>
              <a:rPr b="0">
                <a:ea typeface="Apple SD Gothic Neo"/>
                <a:latin typeface="Apple SD Gothic Neo"/>
              </a:rPr>
              <a:t> — Gemini 2.5 Pro: 1M tokens, Deep Think mode, top math/coding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Open Source</a:t>
            </a:r>
            <a:r>
              <a:rPr b="0">
                <a:ea typeface="Apple SD Gothic Neo"/>
                <a:latin typeface="Apple SD Gothic Neo"/>
              </a:rPr>
              <a:t> — DeepSeek R1, Llama 4 Scout (10M tokens): Price disruption + rapid catch-up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Challengers</a:t>
            </a:r>
            <a:r>
              <a:rPr b="0">
                <a:ea typeface="Apple SD Gothic Neo"/>
                <a:latin typeface="Apple SD Gothic Neo"/>
              </a:rPr>
              <a:t> — xAI Grok 3, Mistral: 200K GPU infra, EU data sovereignty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How competition shifted: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2024: Highest benchmark wins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2025: How long can it work autonomously?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2026: How well can it orchestrate agent teams?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Every model now ships with reasoning mode. Agent capability is the new metric. Prices dropping across the 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MCP: Rise, Limits, and the Native AI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Model Context Protocol</a:t>
            </a:r>
            <a:r>
              <a:rPr b="0">
                <a:ea typeface="Apple SD Gothic Neo"/>
                <a:latin typeface="Apple SD Gothic Neo"/>
              </a:rPr>
              <a:t> — universal standard for AI ↔ tool connectivity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Before: M models × N tools = custom code each (M×N)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After: M models + N MCP servers = standard protocol (M+N)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Scale:</a:t>
            </a:r>
            <a:r>
              <a:rPr b="0">
                <a:ea typeface="Apple SD Gothic Neo"/>
                <a:latin typeface="Apple SD Gothic Neo"/>
              </a:rPr>
              <a:t> 5,800+ servers, 300+ clients, 97M SDK downloads/month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But MCP is showing its age: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Notion, Linear, GitHub, Slack → all building native AI agents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CLI tools are 33% more efficient than MCP for AI agents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MCP GitHub server: ~55,000 tokens vs CLI `gh`: ~200 tokens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Where MCP stands: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Not going away (already a standard)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Shifting from "master key" to "one of several approaches"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The real winner: the orchestration layer that combines everything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From Vibe Coding to Agentic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Evolution of AI Coding Tools: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2023: Autocomplete (Copilot, Tabnine) — "predict the next line"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2024: Chat-based IDE (Cursor, Windsurf) — "edit via conversation"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2025: CLI Agents (Claude Code, Aider) — "manage projects from terminal"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2026: Team Agents (Claude Code Teams, n8n) — "multiple agents collaborating"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Claude Code:</a:t>
            </a:r>
            <a:r>
              <a:rPr b="0">
                <a:ea typeface="Apple SD Gothic Neo"/>
                <a:latin typeface="Apple SD Gothic Neo"/>
              </a:rPr>
              <a:t> #1 developer preference (46%) within 8 months of launch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95%</a:t>
            </a:r>
            <a:r>
              <a:rPr b="0">
                <a:ea typeface="Apple SD Gothic Neo"/>
                <a:latin typeface="Apple SD Gothic Neo"/>
              </a:rPr>
              <a:t> of developers use AI tools weekly; </a:t>
            </a:r>
            <a:r>
              <a:rPr b="1">
                <a:ea typeface="Apple SD Gothic Neo"/>
                <a:latin typeface="Apple SD Gothic Neo"/>
              </a:rPr>
              <a:t>75%</a:t>
            </a:r>
            <a:r>
              <a:rPr b="0">
                <a:ea typeface="Apple SD Gothic Neo"/>
                <a:latin typeface="Apple SD Gothic Neo"/>
              </a:rPr>
              <a:t> use AI for &gt;50% of coding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Vibe Coding → Agentic Engineering: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OpenClaw: 250K+ stars, fastest ever — but 2.74x more security vulnerabilities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Karpathy (2026): "Vibe coding is already behind us. Now it's agentic engineering."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AI writes the code, humans supervise and orchestrate — the new standard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Context Engineering: The New Essential Skill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/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Prompt Engineering vs Context Engineering: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7 Elements of Context: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System Prompt — AI's role and rules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User Prompt — Current task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Conversation History — Context so far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Long-term Memory — Cross-session persistence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Retrieved Information (RAG) — Relevant documents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Available Tools — APIs, MCP, functions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Output Format — Structured response definitions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Context engineering designs *what* info, *when*, in *what format*, and *how much*.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Agentic AI Deep Dive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Generative AI "answers" questions. Agentic AI "achieves" goals.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Restaurant Analogy: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Generative AI = Chef who gives you the recipe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Agentic AI = Chef who shops, cooks, sets the table, and serves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Agentic Loop:</a:t>
            </a:r>
            <a:r>
              <a:rPr b="0">
                <a:ea typeface="Apple SD Gothic Neo"/>
                <a:latin typeface="Apple SD Gothic Neo"/>
              </a:rPr>
              <a:t> Receive Goal → Plan → Execute Tools → Evaluate → Iterate/Done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Steps 2-5 are autonomous — no human intervention needed.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Six Core Traits:</a:t>
            </a:r>
            <a:r>
              <a:rPr b="0">
                <a:ea typeface="Apple SD Gothic Neo"/>
                <a:latin typeface="Apple SD Gothic Neo"/>
              </a:rPr>
              <a:t> Autonomy, Multi-step Reasoning, Tool Use, Memory, Adaptability, Goal Orientation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AI Evolution: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 1: Rule-based chatbots (~2022)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 2: Generative AI (2023, ChatGPT)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 3: Copilots (2024)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 4: Single Agents (2025, Claude Code)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Gen 5: Multi-Agent Systems (2026, Agent Teams)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Multi-Agent impact:</a:t>
            </a:r>
            <a:r>
              <a:rPr b="0">
                <a:ea typeface="Apple SD Gothic Neo"/>
                <a:latin typeface="Apple SD Gothic Neo"/>
              </a:rPr>
              <a:t> Single agent = 1.7% actionable recommendations → Multi-agent = 100%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Gartner: Multi-agent inquiries surged </a:t>
            </a:r>
            <a:r>
              <a:rPr b="1">
                <a:ea typeface="Apple SD Gothic Neo"/>
                <a:latin typeface="Apple SD Gothic Neo"/>
              </a:rPr>
              <a:t>1,445%</a:t>
            </a:r>
            <a:r>
              <a:rPr b="0">
                <a:ea typeface="Apple SD Gothic Neo"/>
                <a:latin typeface="Apple SD Gothic Neo"/>
              </a:rPr>
              <a:t>. Market: $7.8B → $52B+ by 2030.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n8n: Making Agentic AI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What:</a:t>
            </a:r>
            <a:r>
              <a:rPr b="0">
                <a:ea typeface="Apple SD Gothic Neo"/>
                <a:latin typeface="Apple SD Gothic Neo"/>
              </a:rPr>
              <a:t> Fair-code workflow automation (since 2019), 500+ integrations, self-hosted or cloud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Scale:</a:t>
            </a:r>
            <a:r>
              <a:rPr b="0">
                <a:ea typeface="Apple SD Gothic Neo"/>
                <a:latin typeface="Apple SD Gothic Neo"/>
              </a:rPr>
              <a:t> $2.5B valuation, Nvidia investment, 3,000+ enterprise customers, ARR $40M+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Why n8n fits Agentic AI: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Autonomy → Trigger-based auto-execution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Multi-step Reasoning → AI Agent node with Plan &amp; Execute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Tool Use → 500+ integrations + bidirectional MCP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Memory → PostgreSQL/Redis memory nodes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Adaptability → Conditional branching, error handling, retry logic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Unique Position:</a:t>
            </a:r>
            <a:r>
              <a:rPr b="0">
                <a:ea typeface="Apple SD Gothic Neo"/>
                <a:latin typeface="Apple SD Gothic Neo"/>
              </a:rPr>
              <a:t> Code flexibility + No-code speed = Sweet spot between LangGraph and Zapier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Automotive Cases: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Mercedes-Benz: MBUX in-vehicle AI agent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BMW: Automated dealer support + Neue Klasse AI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Delivery Hero: 200 hours saved/month via n8n workflows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BeGlobal: 10x scaling, under 1 min per AI-generated proposal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Conclusion: What We Can Do Right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Big Picture: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Models got smarter → Tools accessible → Code writes itself → Context managed → Agents work independently → Teams collaborate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Why n8n:</a:t>
            </a:r>
            <a:r>
              <a:rPr b="0">
                <a:ea typeface="Apple SD Gothic Neo"/>
                <a:latin typeface="Apple SD Gothic Neo"/>
              </a:rPr>
              <a:t> Low barrier, data sovereignty, 500+ connectors, bidirectional MCP, incremental adoption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Proposed Next Steps: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Week 1: Install n8n self-hosted, explore workflows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Week 2: Build simple automation with AI Agent node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Week 3: Convert one real business process to agentic workflow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Week 4: Team review — Go / No-Go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"The success of agentic AI depends not on the model, but on orchestration."</a:t>
            </a:r>
          </a:p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The age of agentic AI has begun. n8n opens the door at the lowest threshold.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0">
                <a:ea typeface="Apple SD Gothic Neo"/>
                <a:latin typeface="Apple SD Gothic Neo"/>
              </a:rPr>
              <a:t>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b="0">
                <a:ea typeface="Apple SD Gothic Neo"/>
                <a:latin typeface="Apple SD Gothic Neo"/>
              </a:rPr>
              <a:t>본 보고서에서는 </a:t>
            </a:r>
            <a:r>
              <a:rPr b="1">
                <a:ea typeface="Apple SD Gothic Neo"/>
                <a:latin typeface="Apple SD Gothic Neo"/>
              </a:rPr>
              <a:t>AI Trends 2025-2026: The Age of Agentic AI</a:t>
            </a:r>
            <a:r>
              <a:rPr b="0">
                <a:ea typeface="Apple SD Gothic Neo"/>
                <a:latin typeface="Apple SD Gothic Neo"/>
              </a:rPr>
              <a:t>에 대해 8개 섹션으로 나누어 분석하였습니다.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Past Year in Review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The LLM Race: A Five-Way Battle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MCP: Rise, Limits, and the Native AI Era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From Vibe Coding to Agentic Engineering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Context Engineering: The New Essential Skill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Agentic AI Deep Dive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n8n: Making Agentic AI Real</a:t>
            </a:r>
          </a:p>
          <a:p>
            <a:pPr>
              <a:spcAft>
                <a:spcPts val="400"/>
              </a:spcAft>
            </a:pPr>
            <a:r>
              <a:rPr b="1">
                <a:ea typeface="Apple SD Gothic Neo"/>
                <a:latin typeface="Apple SD Gothic Neo"/>
              </a:rPr>
              <a:t>Conclusion: What We Can Do Right 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