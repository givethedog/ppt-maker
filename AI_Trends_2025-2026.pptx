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after greeting. 'Today I'll summarize recent AI trends and share concrete ideas our team can put into practice.'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 the question and pause for 2-3 seconds. After capturing attention, transition with 'A lot has actually changed in just the past year.'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Terminology slide. 'This presentation uses a lot of technical terms. Let me cover the essentials first. Feel free to ask about anything unfamiliar.'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Timeline. 'The key takeaway from this timeline is the sheer pace of change. All of this happened in roughly one year since late 2024.'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overview. 'Think of the USB-C analogy. Just like every device once needed a different charger, every AI needed custom integrations with each service. MCP unifies that into one standard.'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limitations. 'Interestingly, just as the standard solidified, major services began embedding their own native AI. It's like wireless charging becoming more convenient right as USB-C went universal.'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'There are no guarantees, but the attempt itself is valuable. In our industry -- customer support, predictive maintenance, market analysis -- there are clear areas worth exploring.'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 core of agentic AI is orchestration -- how well you combine tools and AI systems. n8n lowers that barrier more than any other platform.'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'Thank you. If you have questions or ideas for applying this to our work, please share them freely.'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AI Trends 2025-2026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Calibri"/>
              </a:defRPr>
            </a:pPr>
            <a:r>
              <a:t>The Age of Agentic AI and the Promise of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  <a:latin typeface="Calibri"/>
              </a:defRPr>
            </a:pPr>
            <a:r>
              <a:t>IT Team Knowledge Sharing  | 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657600"/>
            <a:ext cx="6400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"What has happened in the AI world</a:t>
            </a:r>
            <a:br/>
            <a:r>
              <a:t>over the past year?"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Calibri"/>
              </a:defRPr>
            </a:pPr>
            <a:r>
              <a:t>Two years after ChatGPT... the world has changed faster than anyone imagined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Terms You'll Hear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Lots of AI/IT jargon ahead. Let's cover the essentials first!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LLM (Large Language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Large-scale AI models like ChatGPT that understand and generate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Agent (AI 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An AI program that reasons and acts autonomously toward goals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9144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MCP (Model Context Protocol)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 universal standard for AI to connect to external tools (the USB-C of AI)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91440" cy="8686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  <a:latin typeface="Calibri"/>
              </a:defRPr>
            </a:pPr>
            <a:r>
              <a:t>CLI (Command Line Interface)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Terminal/command-line environment for text-based computer interaction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91440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alibri"/>
              </a:defRPr>
            </a:pPr>
            <a:r>
              <a:t>Token (Token)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The smallest unit AI uses to process text (roughly 1 word per token)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74720"/>
            <a:ext cx="91440" cy="86868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4B71"/>
                </a:solidFill>
                <a:latin typeface="Calibri"/>
              </a:defRPr>
            </a:pPr>
            <a:r>
              <a:t>RAG (Retrieval Augmented Generation)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AI retrieves external documents to enrich its responses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8056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8056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26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Workflow (Workflow)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An automated task sequence: A then B then C, executed in order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48056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480560"/>
            <a:ext cx="9144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526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Orchestration (Orchestration)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Coordinating multiple AI systems and tools, like a conductor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48640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486400"/>
            <a:ext cx="9144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32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Fair-code (Fair-code)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43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Similar to open source but with restrictions on commercial redistribution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486400"/>
            <a:ext cx="5486400" cy="868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486400"/>
            <a:ext cx="91440" cy="86868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532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4B71"/>
                </a:solidFill>
                <a:latin typeface="Calibri"/>
              </a:defRPr>
            </a:pPr>
            <a:r>
              <a:t>No-code (No-code/Low-code)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943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Building software via drag-and-drop with little or no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Feel free to ask about any unfamiliar terms at any point during the presentation!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Past Year: A Timeline</a:t>
            </a:r>
          </a:p>
        </p:txBody>
      </p:sp>
      <p:sp>
        <p:nvSpPr>
          <p:cNvPr id="3" name="Oval 2"/>
          <p:cNvSpPr/>
          <p:nvPr/>
        </p:nvSpPr>
        <p:spPr>
          <a:xfrm>
            <a:off x="1188720" y="1371600"/>
            <a:ext cx="228600" cy="228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2024.11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MCP Announced</a:t>
            </a:r>
          </a:p>
        </p:txBody>
      </p:sp>
      <p:sp>
        <p:nvSpPr>
          <p:cNvPr id="6" name="Oval 5"/>
          <p:cNvSpPr/>
          <p:nvPr/>
        </p:nvSpPr>
        <p:spPr>
          <a:xfrm>
            <a:off x="3474720" y="1371600"/>
            <a:ext cx="228600" cy="228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2025.01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DeepSeek R1 Shock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1371600"/>
            <a:ext cx="228600" cy="22860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600"/>
                </a:solidFill>
                <a:latin typeface="Calibri"/>
              </a:defRPr>
            </a:pPr>
            <a:r>
              <a:t>2025.02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Vibe Coding Coined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1371600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Calibri"/>
              </a:defRPr>
            </a:pPr>
            <a:r>
              <a:t>2025.03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OpenAI Agents SDK</a:t>
            </a:r>
          </a:p>
        </p:txBody>
      </p:sp>
      <p:sp>
        <p:nvSpPr>
          <p:cNvPr id="15" name="Oval 14"/>
          <p:cNvSpPr/>
          <p:nvPr/>
        </p:nvSpPr>
        <p:spPr>
          <a:xfrm>
            <a:off x="10332720" y="1371600"/>
            <a:ext cx="228600" cy="228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2025.05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Claude Code Launched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393192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2025.09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Notion 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3931920"/>
            <a:ext cx="228600" cy="228600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4B71"/>
                </a:solidFill>
                <a:latin typeface="Calibri"/>
              </a:defRPr>
            </a:pPr>
            <a:r>
              <a:t>2025.10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n8n $180M Funding</a:t>
            </a:r>
          </a:p>
        </p:txBody>
      </p:sp>
      <p:sp>
        <p:nvSpPr>
          <p:cNvPr id="24" name="Oval 23"/>
          <p:cNvSpPr/>
          <p:nvPr/>
        </p:nvSpPr>
        <p:spPr>
          <a:xfrm>
            <a:off x="5760720" y="3931920"/>
            <a:ext cx="228600" cy="228600"/>
          </a:xfrm>
          <a:prstGeom prst="ellipse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A0B0"/>
                </a:solidFill>
                <a:latin typeface="Calibri"/>
              </a:defRPr>
            </a:pPr>
            <a:r>
              <a:t>2025.12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MCP to Linux Fdn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0" y="3931920"/>
            <a:ext cx="228600" cy="228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2026.01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OpenClaw 250K Stars</a:t>
            </a:r>
          </a:p>
        </p:txBody>
      </p:sp>
      <p:sp>
        <p:nvSpPr>
          <p:cNvPr id="30" name="Oval 29"/>
          <p:cNvSpPr/>
          <p:nvPr/>
        </p:nvSpPr>
        <p:spPr>
          <a:xfrm>
            <a:off x="10332720" y="3931920"/>
            <a:ext cx="228600" cy="228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Calibri"/>
              </a:defRPr>
            </a:pPr>
            <a:r>
              <a:t>2026.02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Claude 4.6 Released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AI is evolving: "Conversation Tool" -&gt; "Working Agent" -&gt; "A Team That Runs Systems"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LLM Race: A Five-Way Battle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GPT-4.1, o3, o4-mini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Reasoning-focused, 1M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09728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Anthropic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Claude 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#1 in coding, 30h+ autonomous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3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39"/>
            <a:ext cx="109728" cy="914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428999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Gemini 2.5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832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1M tokens, Deep Think mode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10972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34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DeepSeek, Llama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Price disruption, 10M tokens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9495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94959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5532119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863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Challengers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4863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Grok 3, Mistral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4863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200K GPU infra + EU data sovereignty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Calibri"/>
              </a:defRPr>
            </a:pPr>
            <a:r>
              <a:t>The competitive axis: Benchmarks -&gt; Agent capability -&gt; Team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the Competitive Axis Has Shifted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A0B0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17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Competing on benchmark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A0A0B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880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How long can it work autonomously?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A0A0B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343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How well can it orchestrate agent teams?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Every model now ships with reasoning (thinking) mode -- table stakes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Across-the-board price drops since DeepSeek R1 -- cost barrier disappearing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Open-source models rapidly closing the gap with proprietary 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MCP: The USB-C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Model Context Protocol -- a universal standard for AI to connect with external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Before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AI Model A --- custom code --- GitHub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AI Model A --- custom code --- Slack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AI Model B --- custom code --- GitHub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...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M x N integrations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After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AI Model A --+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AI Model B --+-- MCP --+-- GitHub Server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AI Model C --+         +-- Slack Server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                       +-- DB Server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Only M + N implementations needed!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Calibri"/>
              </a:defRPr>
            </a:pPr>
            <a:r>
              <a:t>5,800+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MCP 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Calibri"/>
              </a:defRPr>
            </a:pPr>
            <a:r>
              <a:t>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Calibri"/>
              </a:defRPr>
            </a:pPr>
            <a:r>
              <a:t>97M+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Monthly Downloads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Calibri"/>
              </a:defRPr>
            </a:pPr>
            <a:r>
              <a:t>But Wait... Is MCP Already Showing Its 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Major services are embedding their own AI agents natively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0972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Notion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3.0 AI Agents -&gt; 3.3 Custom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Native is primary, MCP alongside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GitHub Copilot Agent native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Direct integration without MCP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0972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Copilot CLI + Agent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Native CLI more efficient than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Calibri"/>
              </a:defRPr>
            </a:pPr>
            <a:r>
              <a:t>Major services are embedding native AI, reducing their reliance on MCP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CLI vs MCP: The Efficiency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CLI tools may be more efficient for AI agents than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CLI Approach (gh, kubectl, etc.)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Token cost: ~200 tokens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LLMs already know CLI from training data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33% efficiency advantage (benchmark)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e.g., gh pr list -&gt; executes immediately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MCP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Token cost: ~55,000 tokens (GitHub, 93 tools)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Schemas encountered at runtime for the first time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Excessive context consumption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Highly versatile, but inefficient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03520"/>
            <a:ext cx="91440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3949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MCP is not going away (it is already a standard)</a:t>
            </a:r>
            <a:br/>
            <a:r>
              <a:t>But it is shifting from "master key" to "one of several approaches"</a:t>
            </a:r>
            <a:br/>
            <a:r>
              <a:t>The real winner: the orchestration layer that combines all of the above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Return to CLI &amp; Vibe 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0A0B0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Autocomplete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Copilot, Tabnine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Chat-based 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Cursor, Windsurf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CLI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Claude Code, Aider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4B71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Team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Claude Teams, n8n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Claude Code: #1 developer preference (46%) within 8 months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Calibri"/>
              </a:defRPr>
            </a:pPr>
            <a:r>
              <a:t>Vibe Coding (Karpathy, Feb 2025)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"Forget that the code even exists"</a:t>
            </a:r>
            <a:br/>
            <a:r>
              <a:t>-&gt; OpenClaw: 250K stars, shipped without reading code</a:t>
            </a:r>
            <a:br/>
            <a:r>
              <a:t>-&gt; 2.74x more security vulnerabilities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Agentic Engineering 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63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"Vibe coding is already behind us" -- Karpathy</a:t>
            </a:r>
            <a:br/>
            <a:r>
              <a:t>-&gt; AI writes code, humans supervise and orchestrate</a:t>
            </a:r>
            <a:br/>
            <a:r>
              <a:t>-&gt; Quality and security matter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Prompt to 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"The new essential skill in AI is not prompting -- it's context engineering" -- Tobi Lutke (Shopify CEO)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65760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65760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Context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A single text string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The entire information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036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Timing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88036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One-shot at invocation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88036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Continuous, across multiple turns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47472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What should I ask?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474720"/>
            <a:ext cx="365760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What does the AI already know?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6908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Outcome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06908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Better phrasing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06908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Better system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Prompt = "What should I ask?"  vs  Context = "What does the AI already know?"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7 Elements of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Design the information you provide to AI across seven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91440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System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AI's role and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"You are a customer service expert"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9144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User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current task/question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"Draft a reply to this email"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9144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Conversation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Context so 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References previous exchanges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3464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91440" cy="105156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Long-term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Persistence across 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Remembers last week's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91440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Retrieved Info (RAG)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Relevant documents/data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Internal manuals retrieved and referenced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91440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Available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APIs, MCP, functions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Slack messaging, DB queries available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12080"/>
            <a:ext cx="5486400" cy="1051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212080"/>
            <a:ext cx="91440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Calibri"/>
              </a:defRPr>
            </a:pPr>
            <a:r>
              <a:t>Output Format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Structured response def.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JSON, tables, Markdown, etc.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Context engineering = designing what, when, in what format, and how much to provide to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Let's recap where we are...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0B0"/>
                </a:solidFill>
                <a:latin typeface="Calibri"/>
              </a:defRPr>
            </a:pPr>
            <a:r>
              <a:t>   Models are smart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Calibri"/>
              </a:defRPr>
            </a:pPr>
            <a:r>
              <a:t>   Tool connectivity standards (MCP)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C3AED"/>
                </a:solidFill>
                <a:latin typeface="Calibri"/>
              </a:defRPr>
            </a:pPr>
            <a:r>
              <a:t>   AI can write code on its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  <a:latin typeface="Calibri"/>
              </a:defRPr>
            </a:pPr>
            <a:r>
              <a:t>   Context management has evolved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A0B0"/>
                </a:solidFill>
                <a:latin typeface="Calibri"/>
              </a:defRPr>
            </a:pPr>
            <a:r>
              <a:t>So what happens when all of this comes together?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Calibri"/>
              </a:defRPr>
            </a:pPr>
            <a:r>
              <a:t>-&gt;  Agentic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AI: What Is It, Really?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Calibri"/>
              </a:defRPr>
            </a:pPr>
            <a:r>
              <a:t>Generative AI "answers" questions.</a:t>
            </a:r>
            <a:br/>
            <a:r>
              <a:t>Agentic AI "achieves" 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53035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0B0"/>
                </a:solidFill>
                <a:latin typeface="Calibri"/>
              </a:defRPr>
            </a:pPr>
            <a:r>
              <a:t>Generative AI = Chef who gives you the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Input: "Give me a pasta recipe"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Output: Text (the recipe)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Tools: None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Next step: Human decides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5303520" cy="34747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Agentic AI = Chef who cooks and serves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832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Input: "Prepare a dinner party"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Output: Actions (shop -&gt; cook -&gt; set table -&gt; serve)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Tools: Fridge, stove, payment system...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Next step: Decides on its 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Agentic AI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91440" cy="8229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1. Receive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"Create a monthly sales report"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2.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Query DB -&gt; Analyze -&gt; Visualize -&gt; Write doc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3. Execute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37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Run SQL queries, generate charts, draft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206240"/>
            <a:ext cx="9144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4. 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343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"Chart is incomplete? Let me retry."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12080"/>
            <a:ext cx="100584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212080"/>
            <a:ext cx="91440" cy="82296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Calibri"/>
              </a:defRPr>
            </a:pPr>
            <a:r>
              <a:t>5. Iterate/Done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349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Repeat 3-4 until resolved -&gt; Report completion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Key: Steps 2-5 are performed autonomously, without human intervention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Six Core Characteristics of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Proceeds toward a goal without</a:t>
            </a:r>
            <a:br/>
            <a:r>
              <a:t>step-by-step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"Create a report" -- handles everything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Multi-step</a:t>
            </a:r>
            <a:br/>
            <a:r>
              <a:t>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Formulates and executes</a:t>
            </a:r>
            <a:br/>
            <a:r>
              <a:t>complex 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DB -&gt; analysis -&gt; visualization -&gt; doc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Tool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Accesses APIs, databases,</a:t>
            </a:r>
            <a:br/>
            <a:r>
              <a:t>file systems, the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Sends Slack messages, runs SQL queries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34747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Maintains long-term and</a:t>
            </a:r>
            <a:br/>
            <a:r>
              <a:t>short-term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Remembers yesterday's work today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49039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Adaptability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Revises plans when</a:t>
            </a:r>
            <a:br/>
            <a:r>
              <a:t>things 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API error -&gt; tries alternative 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49039"/>
            <a:ext cx="34747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9319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Calibri"/>
              </a:defRPr>
            </a:pPr>
            <a:r>
              <a:t>Goal</a:t>
            </a:r>
            <a:br/>
            <a:r>
              <a:t>Orientation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805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Repeats perceive-reason-act</a:t>
            </a:r>
            <a:br/>
            <a:r>
              <a:t>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120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e.g., Keeps iterating until result is satisfactory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Evolution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325880"/>
            <a:ext cx="1828800" cy="548640"/>
          </a:xfrm>
          <a:prstGeom prst="roundRect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0B0"/>
                </a:solidFill>
                <a:latin typeface="Calibri"/>
              </a:defRPr>
            </a:pPr>
            <a:r>
              <a:t>Gen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~2022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Rule-based Chatbots -- FAQ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377440"/>
            <a:ext cx="36576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Gen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40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Generative AI -- Ask a question, get an answer (ChatGPT)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428999"/>
            <a:ext cx="548640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Gen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289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Copilots -- Suggests alongside you (Copilot)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480560"/>
            <a:ext cx="73152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Gen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43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Single Agents -- Works independently (Claude Code)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532119"/>
            <a:ext cx="9144000" cy="548640"/>
          </a:xfrm>
          <a:prstGeom prst="round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9495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4B71"/>
                </a:solidFill>
                <a:latin typeface="Calibri"/>
              </a:defRPr>
            </a:pPr>
            <a:r>
              <a:t>Gen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5321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Multi-Agent Systems -- Collaborates as a team (Agent Teams)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We are at the Gen 4 -&gt; Gen 5 transition right now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Single Agent vs Multi-Agent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0A0B0"/>
                </a:solidFill>
                <a:latin typeface="Calibri"/>
              </a:defRPr>
            </a:pPr>
            <a:r>
              <a:t>Single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One AI handles everything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Hits context window limits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Versatile but lacks specialization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DevOps case study:</a:t>
            </a:r>
          </a:p>
          <a:p>
            <a:pPr>
              <a:spcAft>
                <a:spcPts val="8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1.7% of recommendations were actionable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Multi-Agent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Specialized agents with distinct roles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Parallel execution for speed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Orchestrator coordinates the team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DevOps case study: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100% of recommendations were actionable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0D2FF"/>
                </a:solidFill>
                <a:latin typeface="Calibri"/>
              </a:defRPr>
            </a:pPr>
            <a:r>
              <a:t>Gartner: Multi-agent system inquiries surged 1,445% (2024 Q1 -&gt; 2025 Q2)</a:t>
            </a:r>
          </a:p>
          <a:p>
            <a:pPr>
              <a:spcAft>
                <a:spcPts val="800"/>
              </a:spcAft>
              <a:defRPr sz="1500">
                <a:solidFill>
                  <a:srgbClr val="00D2FF"/>
                </a:solidFill>
                <a:latin typeface="Calibri"/>
              </a:defRPr>
            </a:pPr>
            <a:r>
              <a:t>Market size: $7.8B -&gt; $52B+ (projected by 2030)</a:t>
            </a:r>
          </a:p>
          <a:p>
            <a:pPr>
              <a:spcAft>
                <a:spcPts val="800"/>
              </a:spcAft>
              <a:defRPr sz="1500">
                <a:solidFill>
                  <a:srgbClr val="00D2FF"/>
                </a:solidFill>
                <a:latin typeface="Calibri"/>
              </a:defRPr>
            </a:pPr>
            <a:r>
              <a:t>Agentic AI success depends not on the model, but on orchestration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Major Agent Framework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Tools for building agentic AI -- where does n8n fit?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Code (Python), graph state machines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Complex custom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9144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Code (Python), role-based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Multi-agent prototyping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91440" cy="685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OpenAI SDK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Code (Python), minimalist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OpenAI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9476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94760"/>
            <a:ext cx="91440" cy="6858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600"/>
                </a:solidFill>
                <a:latin typeface="Calibri"/>
              </a:defRPr>
            </a:pPr>
            <a:r>
              <a:t>Claude SDK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Code, MCP-native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Claude-based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886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10972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572000"/>
            <a:ext cx="91440" cy="68580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4663440"/>
            <a:ext cx="502920" cy="502920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A4B71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Visual no-code/low-code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Business + dev teams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4B71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94960"/>
            <a:ext cx="109728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Why n8n is a strong fit for automotive industry IT teams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Self-hosted to protect customer/dealer data  |  Non-developers can modify workflows  |  500+ integrations (Slack, email, CRM)  |  Self-hosted is free vs SaaS at hundreds per month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AI Adoption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B35"/>
                </a:solidFill>
                <a:latin typeface="Calibri"/>
              </a:defRPr>
            </a:pPr>
            <a:r>
              <a:t>11%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have reached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(Deloitte 2026 survey)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B35"/>
                </a:solidFill>
                <a:latin typeface="Calibri"/>
              </a:defRPr>
            </a:pPr>
            <a:r>
              <a:t>Why do 89% fail to reach production?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Exploring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2194560" cy="502920"/>
          </a:xfrm>
          <a:prstGeom prst="roundRect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A0B0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Piloting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27432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Deploy-ready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43200"/>
            <a:ext cx="100584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 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520439"/>
            <a:ext cx="82296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5661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11%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Five Conditions for Reaching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Data Pipeline Maturity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Calibri"/>
              </a:defRPr>
            </a:pPr>
            <a:r>
              <a:t>n8n helps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Governance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Calibri"/>
              </a:defRPr>
            </a:pPr>
            <a:r>
              <a:t>n8n helps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Legacy System API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4B71"/>
                </a:solidFill>
                <a:latin typeface="Calibri"/>
              </a:defRPr>
            </a:pPr>
            <a:r>
              <a:t>n8n helps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6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Org-wide AI Literacy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4663440"/>
            <a:ext cx="210312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4709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074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Incremental Rollout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4B71"/>
                </a:solidFill>
                <a:latin typeface="Calibri"/>
              </a:defRPr>
            </a:pPr>
            <a:r>
              <a:t>n8n directly supports data connectivity, API integration, and incremental adoption -- key enablers for production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A4B71"/>
                </a:solidFill>
                <a:latin typeface="Calibri"/>
              </a:defRPr>
            </a:pPr>
            <a:r>
              <a:t>n8n: A Platform That Makes Agentic AI Real</a:t>
            </a:r>
          </a:p>
        </p:txBody>
      </p:sp>
      <p:sp>
        <p:nvSpPr>
          <p:cNvPr id="3" name="Oval 2"/>
          <p:cNvSpPr/>
          <p:nvPr/>
        </p:nvSpPr>
        <p:spPr>
          <a:xfrm>
            <a:off x="9875520" y="137160"/>
            <a:ext cx="822960" cy="822960"/>
          </a:xfrm>
          <a:prstGeom prst="ellipse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Fair-code workflow automation + AI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Philosophy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"The flexibility of code + the speed of no-code"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12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500+ apps and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128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12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LangChain-based 70+ dedicated AI nodes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Self-hosted (free) or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175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272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4B71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$2.5B valuation, Nvidia investment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Calibri"/>
              </a:defRPr>
            </a:pPr>
            <a:r>
              <a:t>$180M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Series C (Nvidia participation)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5720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Calibri"/>
              </a:defRPr>
            </a:pPr>
            <a:r>
              <a:t>$40M+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ARR (10x YoY)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5720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Calibri"/>
              </a:defRPr>
            </a:pPr>
            <a:r>
              <a:t>3,000+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Enterprise Customers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57200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4B71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Customers Using AI Tools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n8n x Agentic AI: Requirement Matching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Trigger-based auto-execution</a:t>
            </a:r>
            <a:br/>
            <a:r>
              <a:t>(Webhooks, schedules, events)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474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Multi-step</a:t>
            </a:r>
            <a:br/>
            <a:r>
              <a:t>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Agent node</a:t>
            </a:r>
            <a:br/>
            <a:r>
              <a:t>Plan &amp; Execute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Tool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500+ integrations + MCP</a:t>
            </a:r>
            <a:br/>
            <a:r>
              <a:t>Client/Server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4747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600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Simple / PostgreSQL</a:t>
            </a:r>
            <a:br/>
            <a:r>
              <a:t>/ Redis memory nodes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749039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Adaptability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Conditional branching,</a:t>
            </a:r>
            <a:br/>
            <a:r>
              <a:t>error handling, retry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49039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749039"/>
            <a:ext cx="34747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02335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Calibri"/>
              </a:defRPr>
            </a:pPr>
            <a:r>
              <a:t>Goal</a:t>
            </a:r>
            <a:br/>
            <a:r>
              <a:t>Orientation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634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Workflow = complete pipeline</a:t>
            </a:r>
            <a:br/>
            <a:r>
              <a:t>from start to goal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n8n's Unique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Agentic AI Tool Spectrum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09728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&lt;- For Code Experts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A0B0"/>
                </a:solidFill>
                <a:latin typeface="Calibri"/>
              </a:defRPr>
            </a:pPr>
            <a:r>
              <a:t>For Business Teams -&gt;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92024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19202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1920240"/>
            <a:ext cx="365760" cy="3657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Agent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1920240"/>
            <a:ext cx="365760" cy="365760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4B71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0" y="1920240"/>
            <a:ext cx="365760" cy="365760"/>
          </a:xfrm>
          <a:prstGeom prst="ellipse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A0B0"/>
                </a:solidFill>
                <a:latin typeface="Calibri"/>
              </a:defRPr>
            </a:pPr>
            <a:r>
              <a:t>Zapier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4B71"/>
                </a:solidFill>
                <a:latin typeface="Calibri"/>
              </a:defRPr>
            </a:pPr>
            <a:r>
              <a:t>n8n = "Code flexibility + No-code speed" = Sweet Spot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vs LangGraph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+ Visual builder, faster to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alibri"/>
              </a:defRPr>
            </a:pPr>
            <a:r>
              <a:t>- Less suited for complex state machines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vs CrewAI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+ Self-hosted, data sovereignty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alibri"/>
              </a:defRPr>
            </a:pPr>
            <a:r>
              <a:t>- Less sophisticated crew structures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vs Zapier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+ JS/Python code support, cost-efficient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alibri"/>
              </a:defRPr>
            </a:pPr>
            <a:r>
              <a:t>- Fewer integrations (500 vs 7,000)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n8n = The Agentic MCP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Calibri"/>
              </a:defRPr>
            </a:pPr>
            <a:r>
              <a:t>n8n supports MCP bidirectionally (since April 2025)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0040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External MCP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GitHub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Slack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PostgreSQL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File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4114800" cy="2743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n8n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MCP Client -&gt; Consume tools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AI Agent -&gt; Orchestration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MCP Server -&gt; Expose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828800"/>
            <a:ext cx="320040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4B71"/>
                </a:solidFill>
                <a:latin typeface="Calibri"/>
              </a:defRPr>
            </a:pPr>
            <a:r>
              <a:t>External MCP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4688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Claude Desktop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Cursor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VS Code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Other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A4B71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Real-World Workflow 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Customer Inquiry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Email received -&gt; AI classifies (test drive/service/quote) -&gt; CRM lookup -&gt; auto-process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Market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Weekly schedule -&gt; Gather competitor pricing/promos -&gt; Trend report -&gt; 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alibri"/>
              </a:defRPr>
            </a:pPr>
            <a:r>
              <a:t>Predictive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Calibri"/>
              </a:defRPr>
            </a:pPr>
            <a:r>
              <a:t>Sensor data -&gt; Anomaly analysis -&gt; Proactive alert to customer -&gt; Service booking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Automotive AI + n8n Case Studies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Mercedes-Benz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MBUX AI agent (in-vehicle voice + gesture)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Multimodal agent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BMW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Automated dealer support + Neue Klasse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Reduced CS processing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3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91839"/>
            <a:ext cx="109728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289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Calibri"/>
              </a:defRPr>
            </a:pPr>
            <a:r>
              <a:t>Volvo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89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Predictive maintenance AI -- sensor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2899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Increased preventive 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Delivery Hero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Operational automation workflows (n8n)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200 hours saved per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5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94959"/>
            <a:ext cx="109728" cy="91440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321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B71"/>
                </a:solidFill>
                <a:latin typeface="Calibri"/>
              </a:defRPr>
            </a:pPr>
            <a:r>
              <a:t>BeGlobal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321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AI-powered proposal generation (n8n)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5321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10x scaling, under 1 minute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 Honest Assessment: Opportunities &amp;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No-code/low-code democratizes agent building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Self-hosted ensures data sovereignty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500+ integrations connect legacy systems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Bidirectional MCP support -&gt; ecosystem hub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Visual builder enables rapid prototyping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Nvidia investment, $2.5B 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Complex agent logic favors code frameworks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Enterprise governance &amp; security validation needed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LLM token cost management required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The MCP efficiency debate continues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Production stability needs further validation</a:t>
            </a:r>
          </a:p>
          <a:p>
            <a:pPr>
              <a:spcAft>
                <a:spcPts val="1200"/>
              </a:spcAft>
              <a:defRPr sz="1500">
                <a:solidFill>
                  <a:srgbClr val="A0A0B0"/>
                </a:solidFill>
                <a:latin typeface="Calibri"/>
              </a:defRPr>
            </a:pPr>
            <a:r>
              <a:t>No guarantees of success (only 11% in 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4B71"/>
                </a:solidFill>
                <a:latin typeface="Calibri"/>
              </a:defRPr>
            </a:pPr>
            <a:r>
              <a:t>Success or failure aside -- the attempt itself is a learning opportunity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Internal System Integration: APIs Are the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Calibri"/>
              </a:defRPr>
            </a:pPr>
            <a:r>
              <a:t>For agentic AI to actually work, internal systems must be accessible via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828800" cy="7315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User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03120"/>
            <a:ext cx="2011680" cy="731520"/>
          </a:xfrm>
          <a:prstGeom prst="roundRect">
            <a:avLst/>
          </a:prstGeom>
          <a:solidFill>
            <a:srgbClr val="EA4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n8n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103120"/>
            <a:ext cx="1828800" cy="73152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645920"/>
            <a:ext cx="384048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645920"/>
            <a:ext cx="7315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DMS (Dealer Mgmt)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286000"/>
            <a:ext cx="384048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286000"/>
            <a:ext cx="731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CRM (Customer Mgmt)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926080"/>
            <a:ext cx="384048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926080"/>
            <a:ext cx="73152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ERP (Inventory/Finance)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566159"/>
            <a:ext cx="3840480" cy="5486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3566159"/>
            <a:ext cx="73152" cy="5486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611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Service Booking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Many internal systems offer no API or limited access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Data trapped in silos</a:t>
            </a:r>
          </a:p>
          <a:p>
            <a:pPr>
              <a:spcAft>
                <a:spcPts val="800"/>
              </a:spcAft>
              <a:defRPr sz="1400">
                <a:solidFill>
                  <a:srgbClr val="A0A0B0"/>
                </a:solidFill>
                <a:latin typeface="Calibri"/>
              </a:defRPr>
            </a:pPr>
            <a:r>
              <a:t>Reliant on manual data extraction and entry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148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Required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663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Develop and expose APIs for core systems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Standardize the API Gateway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Design data flows (connect via n8n)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The success of AI agents = the maturity of your API infrastructure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Big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097280"/>
            <a:ext cx="91440" cy="731520"/>
          </a:xfrm>
          <a:prstGeom prst="rect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Models got smarter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"/>
              </a:defRPr>
            </a:pPr>
            <a:r>
              <a:t>LLM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96596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965960"/>
            <a:ext cx="9144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They can use tools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2FF"/>
                </a:solidFill>
                <a:latin typeface="Calibri"/>
              </a:defRPr>
            </a:pPr>
            <a:r>
              <a:t>MCP, native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834639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834639"/>
            <a:ext cx="9144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9260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They write code themselves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26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C3AED"/>
                </a:solidFill>
                <a:latin typeface="Calibri"/>
              </a:defRPr>
            </a:pPr>
            <a:r>
              <a:t>CLI, vibe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3832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70332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703320"/>
            <a:ext cx="9144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They manage their own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  <a:latin typeface="Calibri"/>
              </a:defRPr>
            </a:pPr>
            <a:r>
              <a:t>Context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57200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0" y="4572000"/>
            <a:ext cx="91440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They work independently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6B35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440680"/>
            <a:ext cx="8229600" cy="7315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5440680"/>
            <a:ext cx="91440" cy="73152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They collaborate as 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A4B71"/>
                </a:solidFill>
                <a:latin typeface="Calibri"/>
              </a:defRPr>
            </a:pPr>
            <a:r>
              <a:t>Multi-agent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4B71"/>
                </a:solidFill>
                <a:latin typeface="Calibri"/>
              </a:defRPr>
            </a:pPr>
            <a:r>
              <a:t>The platform that visually combines and executes all of this = n8n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Install n8n self-hosted</a:t>
            </a:r>
            <a:br/>
            <a:r>
              <a:t>Explore basic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Get familiar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5603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Build a simple automation</a:t>
            </a:r>
            <a:br/>
            <a:r>
              <a:t>with the AI Agent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Validate potential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5603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Convert one real process</a:t>
            </a:r>
            <a:br/>
            <a:r>
              <a:t>into an agentic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Apply to real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7315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4B71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Team review</a:t>
            </a:r>
            <a:br/>
            <a:r>
              <a:t>Decide on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Calibri"/>
              </a:defRPr>
            </a:pPr>
            <a:r>
              <a:t>Go / No-Go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"The success of agentic AI depends</a:t>
            </a:r>
            <a:br/>
            <a:r>
              <a:t>not on the model, but on orchestration."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200400"/>
            <a:ext cx="4572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B0"/>
                </a:solidFill>
                <a:latin typeface="Calibri"/>
              </a:defRPr>
            </a:pPr>
            <a:r>
              <a:t>We don't know yet whether this will succeed or fail.</a:t>
            </a:r>
            <a:br/>
            <a:r>
              <a:t>But if we never try, we'll never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4B71"/>
                </a:solidFill>
                <a:latin typeface="Calibri"/>
              </a:defRPr>
            </a:pPr>
            <a:r>
              <a:t>The age of agentic AI has already begun,</a:t>
            </a:r>
            <a:br/>
            <a:r>
              <a:t>and n8n opens the door at the lowest threshold.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