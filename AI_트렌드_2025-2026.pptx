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Arial"/>
              </a:defRPr>
            </a:pPr>
            <a:r>
              <a:t>AI 트렌드 2025-2026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D2FF"/>
                </a:solidFill>
                <a:latin typeface="Arial"/>
              </a:defRPr>
            </a:pPr>
            <a:r>
              <a:t>에이전틱 AI 시대와 n8n의 가능성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A0A0B0"/>
                </a:solidFill>
                <a:latin typeface="Arial"/>
              </a:defRPr>
            </a:pPr>
            <a:r>
              <a:t>IT팀 내부 공유  |  2026년 3월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0" y="3657600"/>
            <a:ext cx="64008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Arial"/>
              </a:defRPr>
            </a:pPr>
            <a:r>
              <a:t>"지난 1년, AI 업계에서</a:t>
            </a:r>
            <a:br/>
            <a:r>
              <a:t>무슨 일이 있었을까요?"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41148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A0A0B0"/>
                </a:solidFill>
                <a:latin typeface="Arial"/>
              </a:defRPr>
            </a:pPr>
            <a:r>
              <a:t>ChatGPT 이후 2년... 세상은 상상 이상으로 빠르게 바뀌고 있습니다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rial"/>
              </a:defRPr>
            </a:pPr>
            <a:r>
              <a:t>최근 1년 타임라인</a:t>
            </a:r>
          </a:p>
        </p:txBody>
      </p:sp>
      <p:sp>
        <p:nvSpPr>
          <p:cNvPr id="3" name="Oval 2"/>
          <p:cNvSpPr/>
          <p:nvPr/>
        </p:nvSpPr>
        <p:spPr>
          <a:xfrm>
            <a:off x="1188720" y="1371600"/>
            <a:ext cx="228600" cy="228600"/>
          </a:xfrm>
          <a:prstGeom prst="ellipse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7373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0D2FF"/>
                </a:solidFill>
                <a:latin typeface="Arial"/>
              </a:defRPr>
            </a:pPr>
            <a:r>
              <a:t>2024.11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20574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Arial"/>
              </a:defRPr>
            </a:pPr>
            <a:r>
              <a:t>MCP 발표</a:t>
            </a:r>
          </a:p>
        </p:txBody>
      </p:sp>
      <p:sp>
        <p:nvSpPr>
          <p:cNvPr id="6" name="Oval 5"/>
          <p:cNvSpPr/>
          <p:nvPr/>
        </p:nvSpPr>
        <p:spPr>
          <a:xfrm>
            <a:off x="3474720" y="1371600"/>
            <a:ext cx="228600" cy="22860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51760" y="17373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6B35"/>
                </a:solidFill>
                <a:latin typeface="Arial"/>
              </a:defRPr>
            </a:pPr>
            <a:r>
              <a:t>2025.01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51760" y="20574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Arial"/>
              </a:defRPr>
            </a:pPr>
            <a:r>
              <a:t>DeepSeek R1 충격</a:t>
            </a:r>
          </a:p>
        </p:txBody>
      </p:sp>
      <p:sp>
        <p:nvSpPr>
          <p:cNvPr id="9" name="Oval 8"/>
          <p:cNvSpPr/>
          <p:nvPr/>
        </p:nvSpPr>
        <p:spPr>
          <a:xfrm>
            <a:off x="5760720" y="1371600"/>
            <a:ext cx="228600" cy="228600"/>
          </a:xfrm>
          <a:prstGeom prst="ellipse">
            <a:avLst/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37760" y="17373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D600"/>
                </a:solidFill>
                <a:latin typeface="Arial"/>
              </a:defRPr>
            </a:pPr>
            <a:r>
              <a:t>2025.02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20574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Arial"/>
              </a:defRPr>
            </a:pPr>
            <a:r>
              <a:t>바이브 코딩 등장</a:t>
            </a:r>
          </a:p>
        </p:txBody>
      </p:sp>
      <p:sp>
        <p:nvSpPr>
          <p:cNvPr id="12" name="Oval 11"/>
          <p:cNvSpPr/>
          <p:nvPr/>
        </p:nvSpPr>
        <p:spPr>
          <a:xfrm>
            <a:off x="8046720" y="1371600"/>
            <a:ext cx="228600" cy="2286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0" y="17373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7C3AED"/>
                </a:solidFill>
                <a:latin typeface="Arial"/>
              </a:defRPr>
            </a:pPr>
            <a:r>
              <a:t>2025.03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0" y="20574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Arial"/>
              </a:defRPr>
            </a:pPr>
            <a:r>
              <a:t>OpenAI Agents SDK</a:t>
            </a:r>
          </a:p>
        </p:txBody>
      </p:sp>
      <p:sp>
        <p:nvSpPr>
          <p:cNvPr id="15" name="Oval 14"/>
          <p:cNvSpPr/>
          <p:nvPr/>
        </p:nvSpPr>
        <p:spPr>
          <a:xfrm>
            <a:off x="10332720" y="1371600"/>
            <a:ext cx="228600" cy="228600"/>
          </a:xfrm>
          <a:prstGeom prst="ellipse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09760" y="17373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0D2FF"/>
                </a:solidFill>
                <a:latin typeface="Arial"/>
              </a:defRPr>
            </a:pPr>
            <a:r>
              <a:t>2025.05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9760" y="20574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Arial"/>
              </a:defRPr>
            </a:pPr>
            <a:r>
              <a:t>Claude Code 출시</a:t>
            </a:r>
          </a:p>
        </p:txBody>
      </p:sp>
      <p:sp>
        <p:nvSpPr>
          <p:cNvPr id="18" name="Oval 17"/>
          <p:cNvSpPr/>
          <p:nvPr/>
        </p:nvSpPr>
        <p:spPr>
          <a:xfrm>
            <a:off x="1188720" y="3931920"/>
            <a:ext cx="228600" cy="228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42976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0B981"/>
                </a:solidFill>
                <a:latin typeface="Arial"/>
              </a:defRPr>
            </a:pPr>
            <a:r>
              <a:t>2025.09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46177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Arial"/>
              </a:defRPr>
            </a:pPr>
            <a:r>
              <a:t>Notion AI Agents</a:t>
            </a:r>
          </a:p>
        </p:txBody>
      </p:sp>
      <p:sp>
        <p:nvSpPr>
          <p:cNvPr id="21" name="Oval 20"/>
          <p:cNvSpPr/>
          <p:nvPr/>
        </p:nvSpPr>
        <p:spPr>
          <a:xfrm>
            <a:off x="3474720" y="3931920"/>
            <a:ext cx="228600" cy="228600"/>
          </a:xfrm>
          <a:prstGeom prst="ellipse">
            <a:avLst/>
          </a:prstGeom>
          <a:solidFill>
            <a:srgbClr val="EA4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651760" y="42976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EA4B71"/>
                </a:solidFill>
                <a:latin typeface="Arial"/>
              </a:defRPr>
            </a:pPr>
            <a:r>
              <a:t>2025.10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51760" y="46177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Arial"/>
              </a:defRPr>
            </a:pPr>
            <a:r>
              <a:t>n8n $180M 투자</a:t>
            </a:r>
          </a:p>
        </p:txBody>
      </p:sp>
      <p:sp>
        <p:nvSpPr>
          <p:cNvPr id="24" name="Oval 23"/>
          <p:cNvSpPr/>
          <p:nvPr/>
        </p:nvSpPr>
        <p:spPr>
          <a:xfrm>
            <a:off x="5760720" y="3931920"/>
            <a:ext cx="228600" cy="228600"/>
          </a:xfrm>
          <a:prstGeom prst="ellipse">
            <a:avLst/>
          </a:prstGeom>
          <a:solidFill>
            <a:srgbClr val="A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37760" y="42976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A0A0B0"/>
                </a:solidFill>
                <a:latin typeface="Arial"/>
              </a:defRPr>
            </a:pPr>
            <a:r>
              <a:t>2025.12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46177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Arial"/>
              </a:defRPr>
            </a:pPr>
            <a:r>
              <a:t>MCP → Linux 재단</a:t>
            </a:r>
          </a:p>
        </p:txBody>
      </p:sp>
      <p:sp>
        <p:nvSpPr>
          <p:cNvPr id="27" name="Oval 26"/>
          <p:cNvSpPr/>
          <p:nvPr/>
        </p:nvSpPr>
        <p:spPr>
          <a:xfrm>
            <a:off x="8046720" y="3931920"/>
            <a:ext cx="228600" cy="22860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23760" y="42976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6B35"/>
                </a:solidFill>
                <a:latin typeface="Arial"/>
              </a:defRPr>
            </a:pPr>
            <a:r>
              <a:t>2026.01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60" y="46177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Arial"/>
              </a:defRPr>
            </a:pPr>
            <a:r>
              <a:t>오픈클로 25만 스타</a:t>
            </a:r>
          </a:p>
        </p:txBody>
      </p:sp>
      <p:sp>
        <p:nvSpPr>
          <p:cNvPr id="30" name="Oval 29"/>
          <p:cNvSpPr/>
          <p:nvPr/>
        </p:nvSpPr>
        <p:spPr>
          <a:xfrm>
            <a:off x="10332720" y="3931920"/>
            <a:ext cx="228600" cy="228600"/>
          </a:xfrm>
          <a:prstGeom prst="ellipse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509760" y="42976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0D2FF"/>
                </a:solidFill>
                <a:latin typeface="Arial"/>
              </a:defRPr>
            </a:pPr>
            <a:r>
              <a:t>2026.02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09760" y="46177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Arial"/>
              </a:defRPr>
            </a:pPr>
            <a:r>
              <a:t>Claude 4.6 출시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126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D2FF"/>
                </a:solidFill>
                <a:latin typeface="Arial"/>
              </a:defRPr>
            </a:pPr>
            <a:r>
              <a:t>AI: "대화 도구" → "일하는 에이전트" → "시스템을 운영하는 팀"으로 진화 중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rial"/>
              </a:defRPr>
            </a:pPr>
            <a:r>
              <a:t>LLM 모델 경쟁: 5파전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10972800" cy="91440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09728" cy="914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0B981"/>
                </a:solidFill>
                <a:latin typeface="Arial"/>
              </a:defRPr>
            </a:pPr>
            <a:r>
              <a:t>OpenAI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12801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Arial"/>
              </a:defRPr>
            </a:pPr>
            <a:r>
              <a:t>GPT-4.1, o3, o4-mini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0B0"/>
                </a:solidFill>
                <a:latin typeface="Arial"/>
              </a:defRPr>
            </a:pPr>
            <a:r>
              <a:t>추론 특화, 1M 토큰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240280"/>
            <a:ext cx="10972800" cy="91440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240280"/>
            <a:ext cx="109728" cy="9144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3317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FF"/>
                </a:solidFill>
                <a:latin typeface="Arial"/>
              </a:defRPr>
            </a:pPr>
            <a:r>
              <a:t>Anthropic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23317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Arial"/>
              </a:defRPr>
            </a:pPr>
            <a:r>
              <a:t>Claude 4.6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331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0B0"/>
                </a:solidFill>
                <a:latin typeface="Arial"/>
              </a:defRPr>
            </a:pPr>
            <a:r>
              <a:t>코딩 1위, 30h+ 자율 에이전트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291839"/>
            <a:ext cx="10972800" cy="91440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291839"/>
            <a:ext cx="109728" cy="914400"/>
          </a:xfrm>
          <a:prstGeom prst="rect">
            <a:avLst/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383279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600"/>
                </a:solidFill>
                <a:latin typeface="Arial"/>
              </a:defRPr>
            </a:pPr>
            <a:r>
              <a:t>Google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0" y="3383279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Arial"/>
              </a:defRPr>
            </a:pPr>
            <a:r>
              <a:t>Gemini 2.5 Pro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3383279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0B0"/>
                </a:solidFill>
                <a:latin typeface="Arial"/>
              </a:defRPr>
            </a:pPr>
            <a:r>
              <a:t>1M 토큰, Deep Think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343400"/>
            <a:ext cx="10972800" cy="91440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4343400"/>
            <a:ext cx="109728" cy="9144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4348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35"/>
                </a:solidFill>
                <a:latin typeface="Arial"/>
              </a:defRPr>
            </a:pPr>
            <a:r>
              <a:t>오픈소스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44348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Arial"/>
              </a:defRPr>
            </a:pPr>
            <a:r>
              <a:t>DeepSeek, Llama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44348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0B0"/>
                </a:solidFill>
                <a:latin typeface="Arial"/>
              </a:defRPr>
            </a:pPr>
            <a:r>
              <a:t>가격 파괴, 10M 토큰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5394959"/>
            <a:ext cx="10972800" cy="91440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5394959"/>
            <a:ext cx="109728" cy="914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486399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7C3AED"/>
                </a:solidFill>
                <a:latin typeface="Arial"/>
              </a:defRPr>
            </a:pPr>
            <a:r>
              <a:t>챌린저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26080" y="5486399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Arial"/>
              </a:defRPr>
            </a:pPr>
            <a:r>
              <a:t>Grok 3, Mistral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5486399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0B0"/>
                </a:solidFill>
                <a:latin typeface="Arial"/>
              </a:defRPr>
            </a:pPr>
            <a:r>
              <a:t>인프라 + EU 데이터 주권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00D2FF"/>
                </a:solidFill>
                <a:latin typeface="Arial"/>
              </a:defRPr>
            </a:pPr>
            <a:r>
              <a:t>경쟁의 핵심: 벤치마크 → 에이전트 능력 → 팀 조율 능력으로 전환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rial"/>
              </a:defRPr>
            </a:pPr>
            <a:r>
              <a:t>모델 경쟁의 핵심 축 변화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A0A0B0"/>
                </a:solidFill>
                <a:latin typeface="Arial"/>
              </a:defRPr>
            </a:pPr>
            <a:r>
              <a:t>2024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0" y="1417320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FFFFFF"/>
                </a:solidFill>
                <a:latin typeface="Arial"/>
              </a:defRPr>
            </a:pPr>
            <a:r>
              <a:t>벤치마크 점수 경쟁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10312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0">
                <a:solidFill>
                  <a:srgbClr val="A0A0B0"/>
                </a:solidFill>
                <a:latin typeface="Arial"/>
              </a:defRPr>
            </a:pPr>
            <a:r>
              <a:t>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83464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D2FF"/>
                </a:solidFill>
                <a:latin typeface="Arial"/>
              </a:defRPr>
            </a:pPr>
            <a:r>
              <a:t>2025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2880360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FFFFFF"/>
                </a:solidFill>
                <a:latin typeface="Arial"/>
              </a:defRPr>
            </a:pPr>
            <a:r>
              <a:t>얼마나 오래 자율 작업 가능?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356616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0">
                <a:solidFill>
                  <a:srgbClr val="A0A0B0"/>
                </a:solidFill>
                <a:latin typeface="Arial"/>
              </a:defRPr>
            </a:pPr>
            <a:r>
              <a:t>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2976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7C3AED"/>
                </a:solidFill>
                <a:latin typeface="Arial"/>
              </a:defRPr>
            </a:pPr>
            <a:r>
              <a:t>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4343400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FFFFFF"/>
                </a:solidFill>
                <a:latin typeface="Arial"/>
              </a:defRPr>
            </a:pPr>
            <a:r>
              <a:t>에이전트 팀을 얼마나 잘 조율?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30352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A0A0B0"/>
                </a:solidFill>
                <a:latin typeface="Arial"/>
              </a:defRPr>
            </a:pPr>
            <a:r>
              <a:t>✦ 모든 모델이 추론(thinking) 모드 탑재 → 기본 기능화</a:t>
            </a:r>
          </a:p>
          <a:p>
            <a:pPr>
              <a:spcAft>
                <a:spcPts val="800"/>
              </a:spcAft>
              <a:defRPr sz="1500">
                <a:solidFill>
                  <a:srgbClr val="A0A0B0"/>
                </a:solidFill>
                <a:latin typeface="Arial"/>
              </a:defRPr>
            </a:pPr>
            <a:r>
              <a:t>✦ DeepSeek R1 이후 전반적 가격 하락 → 비용 장벽 소멸</a:t>
            </a:r>
          </a:p>
          <a:p>
            <a:pPr>
              <a:spcAft>
                <a:spcPts val="800"/>
              </a:spcAft>
              <a:defRPr sz="1500">
                <a:solidFill>
                  <a:srgbClr val="A0A0B0"/>
                </a:solidFill>
                <a:latin typeface="Arial"/>
              </a:defRPr>
            </a:pPr>
            <a:r>
              <a:t>✦ 오픈소스가 클로즈드 모델 성능에 급격히 근접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rial"/>
              </a:defRPr>
            </a:pPr>
            <a:r>
              <a:t>MCP: AI의 USB-C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B0"/>
                </a:solidFill>
                <a:latin typeface="Arial"/>
              </a:defRPr>
            </a:pPr>
            <a:r>
              <a:t>Model Context Protocol — AI가 외부 도구에 접속하는 범용 표준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011680"/>
            <a:ext cx="5303520" cy="320040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35"/>
                </a:solidFill>
                <a:latin typeface="Arial"/>
              </a:defRPr>
            </a:pPr>
            <a:r>
              <a:t>Before MCP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51760"/>
            <a:ext cx="4572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A0A0B0"/>
                </a:solidFill>
                <a:latin typeface="Arial"/>
              </a:defRPr>
            </a:pPr>
            <a:r>
              <a:t>AI 모델 A ─── 커스텀 코드 ─── GitHub</a:t>
            </a:r>
          </a:p>
          <a:p>
            <a:pPr>
              <a:spcAft>
                <a:spcPts val="800"/>
              </a:spcAft>
              <a:defRPr sz="1400">
                <a:solidFill>
                  <a:srgbClr val="A0A0B0"/>
                </a:solidFill>
                <a:latin typeface="Arial"/>
              </a:defRPr>
            </a:pPr>
            <a:r>
              <a:t>AI 모델 A ─── 커스텀 코드 ─── Slack</a:t>
            </a:r>
          </a:p>
          <a:p>
            <a:pPr>
              <a:spcAft>
                <a:spcPts val="800"/>
              </a:spcAft>
              <a:defRPr sz="1400">
                <a:solidFill>
                  <a:srgbClr val="A0A0B0"/>
                </a:solidFill>
                <a:latin typeface="Arial"/>
              </a:defRPr>
            </a:pPr>
            <a:r>
              <a:t>AI 모델 B ─── 커스텀 코드 ─── GitHub</a:t>
            </a:r>
          </a:p>
          <a:p>
            <a:pPr>
              <a:spcAft>
                <a:spcPts val="800"/>
              </a:spcAft>
              <a:defRPr sz="1400">
                <a:solidFill>
                  <a:srgbClr val="A0A0B0"/>
                </a:solidFill>
                <a:latin typeface="Arial"/>
              </a:defRPr>
            </a:pPr>
            <a:r>
              <a:t>...</a:t>
            </a:r>
          </a:p>
          <a:p>
            <a:pPr>
              <a:spcAft>
                <a:spcPts val="800"/>
              </a:spcAft>
              <a:defRPr sz="1400">
                <a:solidFill>
                  <a:srgbClr val="A0A0B0"/>
                </a:solidFill>
                <a:latin typeface="Arial"/>
              </a:defRPr>
            </a:pPr>
            <a:r>
              <a:t>M × N 개의 통합 코드 필요 😱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2011680"/>
            <a:ext cx="5303520" cy="320040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21031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0B981"/>
                </a:solidFill>
                <a:latin typeface="Arial"/>
              </a:defRPr>
            </a:pPr>
            <a:r>
              <a:t>After MCP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2651760"/>
            <a:ext cx="4572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A0A0B0"/>
                </a:solidFill>
                <a:latin typeface="Arial"/>
              </a:defRPr>
            </a:pPr>
            <a:r>
              <a:t>AI 모델 A ─┐</a:t>
            </a:r>
          </a:p>
          <a:p>
            <a:pPr>
              <a:spcAft>
                <a:spcPts val="800"/>
              </a:spcAft>
              <a:defRPr sz="1400">
                <a:solidFill>
                  <a:srgbClr val="A0A0B0"/>
                </a:solidFill>
                <a:latin typeface="Arial"/>
              </a:defRPr>
            </a:pPr>
            <a:r>
              <a:t>AI 모델 B ─┼─ MCP ─┬─ GitHub Server</a:t>
            </a:r>
          </a:p>
          <a:p>
            <a:pPr>
              <a:spcAft>
                <a:spcPts val="800"/>
              </a:spcAft>
              <a:defRPr sz="1400">
                <a:solidFill>
                  <a:srgbClr val="A0A0B0"/>
                </a:solidFill>
                <a:latin typeface="Arial"/>
              </a:defRPr>
            </a:pPr>
            <a:r>
              <a:t>AI 모델 C ─┘       ├─ Slack Server</a:t>
            </a:r>
          </a:p>
          <a:p>
            <a:pPr>
              <a:spcAft>
                <a:spcPts val="800"/>
              </a:spcAft>
              <a:defRPr sz="1400">
                <a:solidFill>
                  <a:srgbClr val="A0A0B0"/>
                </a:solidFill>
                <a:latin typeface="Arial"/>
              </a:defRPr>
            </a:pPr>
            <a:r>
              <a:t>                    └─ DB Server</a:t>
            </a:r>
          </a:p>
          <a:p>
            <a:pPr>
              <a:spcAft>
                <a:spcPts val="800"/>
              </a:spcAft>
              <a:defRPr sz="1400">
                <a:solidFill>
                  <a:srgbClr val="A0A0B0"/>
                </a:solidFill>
                <a:latin typeface="Arial"/>
              </a:defRPr>
            </a:pPr>
            <a:r>
              <a:t>M + N 개의 구현으로 충분! 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54864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D2FF"/>
                </a:solidFill>
                <a:latin typeface="Arial"/>
              </a:defRPr>
            </a:pPr>
            <a:r>
              <a:t>5,800+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59436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A0B0"/>
                </a:solidFill>
                <a:latin typeface="Arial"/>
              </a:defRPr>
            </a:pPr>
            <a:r>
              <a:t>MCP 서버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54864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D2FF"/>
                </a:solidFill>
                <a:latin typeface="Arial"/>
              </a:defRPr>
            </a:pPr>
            <a:r>
              <a:t>300+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59436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A0B0"/>
                </a:solidFill>
                <a:latin typeface="Arial"/>
              </a:defRPr>
            </a:pPr>
            <a:r>
              <a:t>클라이언트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54864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D2FF"/>
                </a:solidFill>
                <a:latin typeface="Arial"/>
              </a:defRPr>
            </a:pPr>
            <a:r>
              <a:t>9,700만+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59436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A0B0"/>
                </a:solidFill>
                <a:latin typeface="Arial"/>
              </a:defRPr>
            </a:pPr>
            <a:r>
              <a:t>월간 다운로드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6B35"/>
                </a:solidFill>
                <a:latin typeface="Arial"/>
              </a:defRPr>
            </a:pPr>
            <a:r>
              <a:t>그런데... MCP는 이미 사양의 기미?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B0"/>
                </a:solidFill>
                <a:latin typeface="Arial"/>
              </a:defRPr>
            </a:pPr>
            <a:r>
              <a:t>주요 서비스들이 자체 AI 에이전트를 내장하기 시작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011680"/>
            <a:ext cx="10972800" cy="100584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488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FF"/>
                </a:solidFill>
                <a:latin typeface="Arial"/>
              </a:defRPr>
            </a:pPr>
            <a:r>
              <a:t>Notion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21488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Arial"/>
              </a:defRPr>
            </a:pPr>
            <a:r>
              <a:t>3.0 AI Agents → 3.3 Custom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21488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0B0"/>
                </a:solidFill>
                <a:latin typeface="Arial"/>
              </a:defRPr>
            </a:pPr>
            <a:r>
              <a:t>네이티브 주력, MCP도 병행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200400"/>
            <a:ext cx="10972800" cy="100584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3375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FF"/>
                </a:solidFill>
                <a:latin typeface="Arial"/>
              </a:defRPr>
            </a:pPr>
            <a:r>
              <a:t>Linear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33375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Arial"/>
              </a:defRPr>
            </a:pPr>
            <a:r>
              <a:t>GitHub Copilot Agent 네이티브 통합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33375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0B0"/>
                </a:solidFill>
                <a:latin typeface="Arial"/>
              </a:defRPr>
            </a:pPr>
            <a:r>
              <a:t>MCP 없이 직접 연동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389120"/>
            <a:ext cx="10972800" cy="100584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5262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FF"/>
                </a:solidFill>
                <a:latin typeface="Arial"/>
              </a:defRPr>
            </a:pPr>
            <a:r>
              <a:t>GitHub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4526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Arial"/>
              </a:defRPr>
            </a:pPr>
            <a:r>
              <a:t>Copilot CLI + Agent Mode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4526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0B0"/>
                </a:solidFill>
                <a:latin typeface="Arial"/>
              </a:defRPr>
            </a:pPr>
            <a:r>
              <a:t>자체 CLI가 MCP보다 효율적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3035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CLI vs MCP: 토큰 효율 비교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7607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0B981"/>
                </a:solidFill>
                <a:latin typeface="Arial"/>
              </a:defRPr>
            </a:pPr>
            <a:r>
              <a:t>CLI (gh, kubectl): ~200 토큰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57607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6B35"/>
                </a:solidFill>
                <a:latin typeface="Arial"/>
              </a:defRPr>
            </a:pPr>
            <a:r>
              <a:t>MCP (GitHub 93개 도구): ~55,000 토큰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D2FF"/>
                </a:solidFill>
                <a:latin typeface="Arial"/>
              </a:defRPr>
            </a:pPr>
            <a:r>
              <a:t>→ MCP는 사라지지 않지만, "만능 열쇠"에서 "여러 방법 중 하나"로 변화. 진짜 승자: 오케스트레이션 레이어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rial"/>
              </a:defRPr>
            </a:pPr>
            <a:r>
              <a:t>CLI로의 회귀 &amp; 바이브 코딩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371600"/>
            <a:ext cx="2560320" cy="164592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A0A0B0"/>
                </a:solidFill>
                <a:latin typeface="Arial"/>
              </a:defRPr>
            </a:pPr>
            <a:r>
              <a:t>2023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9202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Arial"/>
              </a:defRPr>
            </a:pPr>
            <a:r>
              <a:t>자동완성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3774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A0A0B0"/>
                </a:solidFill>
                <a:latin typeface="Arial"/>
              </a:defRPr>
            </a:pPr>
            <a:r>
              <a:t>Copilot, Tabnine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182880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A0A0B0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1371600"/>
            <a:ext cx="2560320" cy="164592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3280" y="14630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7C3AED"/>
                </a:solidFill>
                <a:latin typeface="Arial"/>
              </a:defRPr>
            </a:pPr>
            <a:r>
              <a:t>2024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19202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Arial"/>
              </a:defRPr>
            </a:pPr>
            <a:r>
              <a:t>대화형 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23774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A0A0B0"/>
                </a:solidFill>
                <a:latin typeface="Arial"/>
              </a:defRPr>
            </a:pPr>
            <a:r>
              <a:t>Cursor, Windsurf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182880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A0A0B0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371600"/>
            <a:ext cx="2560320" cy="164592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4630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D2FF"/>
                </a:solidFill>
                <a:latin typeface="Arial"/>
              </a:defRPr>
            </a:pPr>
            <a:r>
              <a:t>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9202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Arial"/>
              </a:defRPr>
            </a:pPr>
            <a:r>
              <a:t>CLI 에이전트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3774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A0A0B0"/>
                </a:solidFill>
                <a:latin typeface="Arial"/>
              </a:defRPr>
            </a:pPr>
            <a:r>
              <a:t>Claude Code, Aider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0" y="182880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A0A0B0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35440" y="1371600"/>
            <a:ext cx="2560320" cy="164592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0" y="14630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EA4B71"/>
                </a:solidFill>
                <a:latin typeface="Arial"/>
              </a:defRPr>
            </a:pPr>
            <a:r>
              <a:t>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35440" y="19202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Arial"/>
              </a:defRPr>
            </a:pPr>
            <a:r>
              <a:t>팀 에이전트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5440" y="23774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A0A0B0"/>
                </a:solidFill>
                <a:latin typeface="Arial"/>
              </a:defRPr>
            </a:pPr>
            <a:r>
              <a:t>Claude Teams, n8n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474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Arial"/>
              </a:defRPr>
            </a:pPr>
            <a:r>
              <a:t>Claude Code: 8개월 만에 선호도 1위 (46%)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114800"/>
            <a:ext cx="5486400" cy="228600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2062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D600"/>
                </a:solidFill>
                <a:latin typeface="Arial"/>
              </a:defRPr>
            </a:pPr>
            <a:r>
              <a:t>바이브 코딩 (Karpathy, 2025.02)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66344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0B0"/>
                </a:solidFill>
                <a:latin typeface="Arial"/>
              </a:defRPr>
            </a:pPr>
            <a:r>
              <a:t>"코드가 존재한다는 사실조차 잊어라"</a:t>
            </a:r>
            <a:br/>
            <a:r>
              <a:t>→ 오픈클로: 25만 스타, 코드 안 읽고 배포</a:t>
            </a:r>
            <a:br/>
            <a:r>
              <a:t>→ 보안 취약점 2.74배 ↑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0" y="4114800"/>
            <a:ext cx="5303520" cy="228600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75120" y="420624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0B981"/>
                </a:solidFill>
                <a:latin typeface="Arial"/>
              </a:defRPr>
            </a:pPr>
            <a:r>
              <a:t>에이전틱 엔지니어링 (2026)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0" y="4663440"/>
            <a:ext cx="4754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0B0"/>
                </a:solidFill>
                <a:latin typeface="Arial"/>
              </a:defRPr>
            </a:pPr>
            <a:r>
              <a:t>"바이브 코딩은 passé" — Karpathy</a:t>
            </a:r>
            <a:br/>
            <a:r>
              <a:t>→ AI가 코드를 쓰되, 사람이 감독·조율</a:t>
            </a:r>
            <a:br/>
            <a:r>
              <a:t>→ 품질과 보안도 중요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0" y="48463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D2FF"/>
                </a:solidFill>
                <a:latin typeface="Arial"/>
              </a:defRPr>
            </a:pPr>
            <a:r>
              <a:t>→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rial"/>
              </a:defRPr>
            </a:pPr>
            <a:r>
              <a:t>프롬프트 → 컨텍스트 엔지니어링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0B0"/>
                </a:solidFill>
                <a:latin typeface="Arial"/>
              </a:defRPr>
            </a:pPr>
            <a:r>
              <a:t>"AI의 새로운 핵심 역량은 프롬프팅이 아니라 컨텍스트 엔지니어링" — Tobi Lutke (Shopify CEO)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3657600" cy="54864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</a:p>
        </p:txBody>
      </p:sp>
      <p:sp>
        <p:nvSpPr>
          <p:cNvPr id="6" name="Rounded Rectangle 5"/>
          <p:cNvSpPr/>
          <p:nvPr/>
        </p:nvSpPr>
        <p:spPr>
          <a:xfrm>
            <a:off x="4297680" y="1645920"/>
            <a:ext cx="3657600" cy="54864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80560" y="16916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프롬프트 엔지니어링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1645920"/>
            <a:ext cx="3657600" cy="54864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21040" y="16916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컨텍스트 엔지니어링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286000"/>
            <a:ext cx="3657600" cy="54864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3317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Arial"/>
              </a:defRPr>
            </a:pPr>
            <a:r>
              <a:t>범위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2286000"/>
            <a:ext cx="3657600" cy="54864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0560" y="23317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A0B0"/>
                </a:solidFill>
                <a:latin typeface="Arial"/>
              </a:defRPr>
            </a:pPr>
            <a:r>
              <a:t>하나의 텍스트 문자열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2286000"/>
            <a:ext cx="3657600" cy="54864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23317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00D2FF"/>
                </a:solidFill>
                <a:latin typeface="Arial"/>
              </a:defRPr>
            </a:pPr>
            <a:r>
              <a:t>전체 정보 아키텍처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880360"/>
            <a:ext cx="3657600" cy="548640"/>
          </a:xfrm>
          <a:prstGeom prst="round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29260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Arial"/>
              </a:defRPr>
            </a:pPr>
            <a:r>
              <a:t>시점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2880360"/>
            <a:ext cx="3657600" cy="548640"/>
          </a:xfrm>
          <a:prstGeom prst="round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60" y="29260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A0B0"/>
                </a:solidFill>
                <a:latin typeface="Arial"/>
              </a:defRPr>
            </a:pPr>
            <a:r>
              <a:t>호출 시 1회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60" y="2880360"/>
            <a:ext cx="3657600" cy="548640"/>
          </a:xfrm>
          <a:prstGeom prst="round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40" y="29260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00D2FF"/>
                </a:solidFill>
                <a:latin typeface="Arial"/>
              </a:defRPr>
            </a:pPr>
            <a:r>
              <a:t>지속적, 여러 턴에 걸쳐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474720"/>
            <a:ext cx="3657600" cy="54864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5204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Arial"/>
              </a:defRPr>
            </a:pPr>
            <a:r>
              <a:t>초점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97680" y="3474720"/>
            <a:ext cx="3657600" cy="54864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0560" y="35204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A0B0"/>
                </a:solidFill>
                <a:latin typeface="Arial"/>
              </a:defRPr>
            </a:pPr>
            <a:r>
              <a:t>무엇을 물어볼까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38160" y="3474720"/>
            <a:ext cx="3657600" cy="54864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21040" y="35204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00D2FF"/>
                </a:solidFill>
                <a:latin typeface="Arial"/>
              </a:defRPr>
            </a:pPr>
            <a:r>
              <a:t>AI가 이미 무엇을 알고 있을까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069080"/>
            <a:ext cx="3657600" cy="548640"/>
          </a:xfrm>
          <a:prstGeom prst="round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411480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Arial"/>
              </a:defRPr>
            </a:pPr>
            <a:r>
              <a:t>결과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297680" y="4069080"/>
            <a:ext cx="3657600" cy="548640"/>
          </a:xfrm>
          <a:prstGeom prst="round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80560" y="411480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A0B0"/>
                </a:solidFill>
                <a:latin typeface="Arial"/>
              </a:defRPr>
            </a:pPr>
            <a:r>
              <a:t>더 나은 문구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38160" y="4069080"/>
            <a:ext cx="3657600" cy="548640"/>
          </a:xfrm>
          <a:prstGeom prst="round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21040" y="411480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00D2FF"/>
                </a:solidFill>
                <a:latin typeface="Arial"/>
              </a:defRPr>
            </a:pPr>
            <a:r>
              <a:t>더 나은 시스템 설계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4754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Arial"/>
              </a:defRPr>
            </a:pPr>
            <a:r>
              <a:t>컨텍스트의 7요소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5303520"/>
            <a:ext cx="1463040" cy="73152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534924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D2FF"/>
                </a:solidFill>
                <a:latin typeface="Arial"/>
              </a:defRPr>
            </a:pPr>
            <a:r>
              <a:t>시스템 프롬프트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103120" y="5303520"/>
            <a:ext cx="1463040" cy="73152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103120" y="534924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7C3AED"/>
                </a:solidFill>
                <a:latin typeface="Arial"/>
              </a:defRPr>
            </a:pPr>
            <a:r>
              <a:t>사용자 프롬프트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749039" y="5303520"/>
            <a:ext cx="1463040" cy="73152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749039" y="534924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0B981"/>
                </a:solidFill>
                <a:latin typeface="Arial"/>
              </a:defRPr>
            </a:pPr>
            <a:r>
              <a:t>대화 이력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394960" y="5303520"/>
            <a:ext cx="1463040" cy="73152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394960" y="534924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EA4B71"/>
                </a:solidFill>
                <a:latin typeface="Arial"/>
              </a:defRPr>
            </a:pPr>
            <a:r>
              <a:t>장기 메모리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040880" y="5303520"/>
            <a:ext cx="1463040" cy="73152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40880" y="534924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6B35"/>
                </a:solidFill>
                <a:latin typeface="Arial"/>
              </a:defRPr>
            </a:pPr>
            <a:r>
              <a:t>RAG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686800" y="5303520"/>
            <a:ext cx="1463040" cy="73152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686800" y="534924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D2FF"/>
                </a:solidFill>
                <a:latin typeface="Arial"/>
              </a:defRPr>
            </a:pPr>
            <a:r>
              <a:t>도구 (MCP)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332720" y="5303520"/>
            <a:ext cx="1463040" cy="73152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332720" y="534924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D600"/>
                </a:solidFill>
                <a:latin typeface="Arial"/>
              </a:defRPr>
            </a:pPr>
            <a:r>
              <a:t>출력 형식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6217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D2FF"/>
                </a:solidFill>
                <a:latin typeface="Arial"/>
              </a:defRPr>
            </a:pPr>
            <a:r>
              <a:t>핵심: 컨텍스트 엔지니어링 = 무엇을, 언제, 어떤 형식으로, 얼마나 가져올지 설계하는 상위 학문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rial"/>
              </a:defRPr>
            </a:pPr>
            <a:r>
              <a:t>에이전틱 AI: 그래서 뭔데?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D2FF"/>
                </a:solidFill>
                <a:latin typeface="Arial"/>
              </a:defRPr>
            </a:pPr>
            <a:r>
              <a:t>생성형 AI는 질문에 "답"한다.</a:t>
            </a:r>
            <a:br/>
            <a:r>
              <a:t>에이전틱 AI는 목표를 "달성"한다.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743200"/>
            <a:ext cx="5303520" cy="347472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83464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A0A0B0"/>
                </a:solidFill>
                <a:latin typeface="Arial"/>
              </a:defRPr>
            </a:pPr>
            <a:r>
              <a:t>🍳 생성형 AI = 레시피 알려주는 셰프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383280"/>
            <a:ext cx="47548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A0A0B0"/>
                </a:solidFill>
                <a:latin typeface="Arial"/>
              </a:defRPr>
            </a:pPr>
            <a:r>
              <a:t>입력: "파스타 레시피 알려줘"</a:t>
            </a:r>
          </a:p>
          <a:p>
            <a:pPr>
              <a:spcAft>
                <a:spcPts val="800"/>
              </a:spcAft>
              <a:defRPr sz="1500">
                <a:solidFill>
                  <a:srgbClr val="A0A0B0"/>
                </a:solidFill>
                <a:latin typeface="Arial"/>
              </a:defRPr>
            </a:pPr>
            <a:r>
              <a:t>출력: 텍스트 (레시피)</a:t>
            </a:r>
          </a:p>
          <a:p>
            <a:pPr>
              <a:spcAft>
                <a:spcPts val="800"/>
              </a:spcAft>
              <a:defRPr sz="1500">
                <a:solidFill>
                  <a:srgbClr val="A0A0B0"/>
                </a:solidFill>
                <a:latin typeface="Arial"/>
              </a:defRPr>
            </a:pPr>
            <a:r>
              <a:t>도구: 없음</a:t>
            </a:r>
          </a:p>
          <a:p>
            <a:pPr>
              <a:spcAft>
                <a:spcPts val="800"/>
              </a:spcAft>
              <a:defRPr sz="1500">
                <a:solidFill>
                  <a:srgbClr val="A0A0B0"/>
                </a:solidFill>
                <a:latin typeface="Arial"/>
              </a:defRPr>
            </a:pPr>
            <a:r>
              <a:t>다음 단계: 사람이 지시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2743200"/>
            <a:ext cx="5303520" cy="347472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283464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Arial"/>
              </a:defRPr>
            </a:pPr>
            <a:r>
              <a:t>🤖 에이전틱 AI = 요리+서빙까지 하는 셰프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3383280"/>
            <a:ext cx="47548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Arial"/>
              </a:defRPr>
            </a:pPr>
            <a:r>
              <a:t>입력: "저녁 파티 준비해줘"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Arial"/>
              </a:defRPr>
            </a:pPr>
            <a:r>
              <a:t>출력: 행동 (장보기→요리→세팅→서빙)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Arial"/>
              </a:defRPr>
            </a:pPr>
            <a:r>
              <a:t>도구: 냉장고, 가스레인지, 카드결제...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Arial"/>
              </a:defRPr>
            </a:pPr>
            <a:r>
              <a:t>다음 단계: 스스로 결정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rial"/>
              </a:defRPr>
            </a:pPr>
            <a:r>
              <a:t>에이전틱 AI 작동 원리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188720"/>
            <a:ext cx="10058400" cy="82296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1188720"/>
            <a:ext cx="91440" cy="82296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13258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FF"/>
                </a:solidFill>
                <a:latin typeface="Arial"/>
              </a:defRPr>
            </a:pPr>
            <a:r>
              <a:t>① 목표 수신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0" y="132588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FFFFFF"/>
                </a:solidFill>
                <a:latin typeface="Arial"/>
              </a:defRPr>
            </a:pPr>
            <a:r>
              <a:t>"월간 매출 리포트 만들어줘"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2194560"/>
            <a:ext cx="10058400" cy="82296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2194560"/>
            <a:ext cx="91440" cy="8229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23317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7C3AED"/>
                </a:solidFill>
                <a:latin typeface="Arial"/>
              </a:defRPr>
            </a:pPr>
            <a:r>
              <a:t>② 계획 수립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23317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FFFFFF"/>
                </a:solidFill>
                <a:latin typeface="Arial"/>
              </a:defRPr>
            </a:pPr>
            <a:r>
              <a:t>DB 조회 → 분석 → 시각화 → 문서 작성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3200400"/>
            <a:ext cx="10058400" cy="82296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" y="3200400"/>
            <a:ext cx="91440" cy="8229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33375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0B981"/>
                </a:solidFill>
                <a:latin typeface="Arial"/>
              </a:defRPr>
            </a:pPr>
            <a:r>
              <a:t>③ 도구 실행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333756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FFFFFF"/>
                </a:solidFill>
                <a:latin typeface="Arial"/>
              </a:defRPr>
            </a:pPr>
            <a:r>
              <a:t>SQL 쿼리, 차트 생성, 문서 작성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206240"/>
            <a:ext cx="10058400" cy="82296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4400" y="4206240"/>
            <a:ext cx="91440" cy="8229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80160" y="43434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35"/>
                </a:solidFill>
                <a:latin typeface="Arial"/>
              </a:defRPr>
            </a:pPr>
            <a:r>
              <a:t>④ 결과 평가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0" y="434340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FFFFFF"/>
                </a:solidFill>
                <a:latin typeface="Arial"/>
              </a:defRPr>
            </a:pPr>
            <a:r>
              <a:t>"차트가 불완전? 다시 해볼게"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" y="5212080"/>
            <a:ext cx="10058400" cy="82296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4400" y="5212080"/>
            <a:ext cx="91440" cy="822960"/>
          </a:xfrm>
          <a:prstGeom prst="rect">
            <a:avLst/>
          </a:prstGeom>
          <a:solidFill>
            <a:srgbClr val="EA4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80160" y="53492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A4B71"/>
                </a:solidFill>
                <a:latin typeface="Arial"/>
              </a:defRPr>
            </a:pPr>
            <a:r>
              <a:t>⑤ 반복/완료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0" y="534924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FFFFFF"/>
                </a:solidFill>
                <a:latin typeface="Arial"/>
              </a:defRPr>
            </a:pPr>
            <a:r>
              <a:t>문제 해결까지 ③-④ 반복 → 완료 보고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62179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D2FF"/>
                </a:solidFill>
                <a:latin typeface="Arial"/>
              </a:defRPr>
            </a:pPr>
            <a:r>
              <a:t>핵심: ②~⑤를 사람 개입 없이 자율적으로 수행하는 것이 에이전틱 AI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rial"/>
              </a:defRPr>
            </a:pPr>
            <a:r>
              <a:t>에이전틱 AI 핵심 특성 6가지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3474720" cy="219456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3474720" cy="7315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FF"/>
                </a:solidFill>
                <a:latin typeface="Arial"/>
              </a:defRPr>
            </a:pPr>
            <a:r>
              <a:t>자율성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Arial"/>
              </a:defRPr>
            </a:pPr>
            <a:r>
              <a:t>단계별 지시 없이 목표를 향해 진행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6032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0B0"/>
                </a:solidFill>
                <a:latin typeface="Arial"/>
              </a:defRPr>
            </a:pPr>
            <a:r>
              <a:t>예: "리포트 만들어줘" 한 마디로 끝까지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188720"/>
            <a:ext cx="3474720" cy="219456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188720"/>
            <a:ext cx="347472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0560" y="13716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7C3AED"/>
                </a:solidFill>
                <a:latin typeface="Arial"/>
              </a:defRPr>
            </a:pPr>
            <a:r>
              <a:t>다단계 추론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192024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Arial"/>
              </a:defRPr>
            </a:pPr>
            <a:r>
              <a:t>복잡한 계획을 세우고 실행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256032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0B0"/>
                </a:solidFill>
                <a:latin typeface="Arial"/>
              </a:defRPr>
            </a:pPr>
            <a:r>
              <a:t>예: DB→분석→시각화→문서 파이프라인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188720"/>
            <a:ext cx="3474720" cy="219456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38160" y="1188720"/>
            <a:ext cx="347472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13716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0B981"/>
                </a:solidFill>
                <a:latin typeface="Arial"/>
              </a:defRPr>
            </a:pPr>
            <a:r>
              <a:t>도구 사용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192024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Arial"/>
              </a:defRPr>
            </a:pPr>
            <a:r>
              <a:t>API, DB, 파일시스템, 웹 접근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256032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0B0"/>
                </a:solidFill>
                <a:latin typeface="Arial"/>
              </a:defRPr>
            </a:pPr>
            <a:r>
              <a:t>예: Slack 메시지 전송, SQL 쿼리 실행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49039"/>
            <a:ext cx="3474720" cy="219456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749039"/>
            <a:ext cx="3474720" cy="73152"/>
          </a:xfrm>
          <a:prstGeom prst="rect">
            <a:avLst/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931919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600"/>
                </a:solidFill>
                <a:latin typeface="Arial"/>
              </a:defRPr>
            </a:pPr>
            <a:r>
              <a:t>메모리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480559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Arial"/>
              </a:defRPr>
            </a:pPr>
            <a:r>
              <a:t>장기·단기 컨텍스트 유지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120639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0B0"/>
                </a:solidFill>
                <a:latin typeface="Arial"/>
              </a:defRPr>
            </a:pPr>
            <a:r>
              <a:t>예: 어제 작업 내용을 오늘도 기억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0" y="3749039"/>
            <a:ext cx="3474720" cy="219456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97680" y="3749039"/>
            <a:ext cx="3474720" cy="7315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0560" y="3931919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35"/>
                </a:solidFill>
                <a:latin typeface="Arial"/>
              </a:defRPr>
            </a:pPr>
            <a:r>
              <a:t>적응력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4480559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Arial"/>
              </a:defRPr>
            </a:pPr>
            <a:r>
              <a:t>실패 시 계획 수정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5120639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0B0"/>
                </a:solidFill>
                <a:latin typeface="Arial"/>
              </a:defRPr>
            </a:pPr>
            <a:r>
              <a:t>예: API 오류 → 대안 경로 시도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38160" y="3749039"/>
            <a:ext cx="3474720" cy="219456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138160" y="3749039"/>
            <a:ext cx="3474720" cy="73152"/>
          </a:xfrm>
          <a:prstGeom prst="rect">
            <a:avLst/>
          </a:prstGeom>
          <a:solidFill>
            <a:srgbClr val="EA4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21040" y="3931919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A4B71"/>
                </a:solidFill>
                <a:latin typeface="Arial"/>
              </a:defRPr>
            </a:pPr>
            <a:r>
              <a:t>목표 지향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4480559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Arial"/>
              </a:defRPr>
            </a:pPr>
            <a:r>
              <a:t>인식→추론→행동 루프 반복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40" y="5120639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0B0"/>
                </a:solidFill>
                <a:latin typeface="Arial"/>
              </a:defRPr>
            </a:pPr>
            <a:r>
              <a:t>예: 결과가 만족스러울 때까지 반복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rial"/>
              </a:defRPr>
            </a:pPr>
            <a:r>
              <a:t>AI의 진화 단계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0" y="1325880"/>
            <a:ext cx="1828800" cy="548640"/>
          </a:xfrm>
          <a:prstGeom prst="roundRect">
            <a:avLst/>
          </a:prstGeom>
          <a:solidFill>
            <a:srgbClr val="A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A0A0B0"/>
                </a:solidFill>
                <a:latin typeface="Arial"/>
              </a:defRPr>
            </a:pPr>
            <a:r>
              <a:t>1세대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5920" y="11887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0B0"/>
                </a:solidFill>
                <a:latin typeface="Arial"/>
              </a:defRPr>
            </a:pPr>
            <a:r>
              <a:t>~2022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0" y="13258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1A2E"/>
                </a:solidFill>
                <a:latin typeface="Arial"/>
              </a:defRPr>
            </a:pPr>
            <a:r>
              <a:t>규칙 기반 챗봇 — FAQ 매칭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0" y="2377440"/>
            <a:ext cx="3657600" cy="54864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24028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7C3AED"/>
                </a:solidFill>
                <a:latin typeface="Arial"/>
              </a:defRPr>
            </a:pPr>
            <a:r>
              <a:t>2세대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24028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0B0"/>
                </a:solidFill>
                <a:latin typeface="Arial"/>
              </a:defRPr>
            </a:pPr>
            <a:r>
              <a:t>2023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23774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1A2E"/>
                </a:solidFill>
                <a:latin typeface="Arial"/>
              </a:defRPr>
            </a:pPr>
            <a:r>
              <a:t>생성형 AI — 질문하면 답변 (ChatGPT)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0" y="3428999"/>
            <a:ext cx="5486400" cy="548640"/>
          </a:xfrm>
          <a:prstGeom prst="round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3291839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Arial"/>
              </a:defRPr>
            </a:pPr>
            <a:r>
              <a:t>3세대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3291839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0B0"/>
                </a:solidFill>
                <a:latin typeface="Arial"/>
              </a:defRPr>
            </a:pPr>
            <a:r>
              <a:t>2024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3428999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1A2E"/>
                </a:solidFill>
                <a:latin typeface="Arial"/>
              </a:defRPr>
            </a:pPr>
            <a:r>
              <a:t>코파일럿 — 옆에서 제안 (Copilot)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0" y="4480560"/>
            <a:ext cx="7315200" cy="5486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434340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0B981"/>
                </a:solidFill>
                <a:latin typeface="Arial"/>
              </a:defRPr>
            </a:pPr>
            <a:r>
              <a:t>4세대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43434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0B0"/>
                </a:solidFill>
                <a:latin typeface="Arial"/>
              </a:defRPr>
            </a:pPr>
            <a:r>
              <a:t>2025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0" y="44805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1A2E"/>
                </a:solidFill>
                <a:latin typeface="Arial"/>
              </a:defRPr>
            </a:pPr>
            <a:r>
              <a:t>단일 에이전트 — 혼자서 일 처리 (Claude Code)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0" y="5532119"/>
            <a:ext cx="9144000" cy="548640"/>
          </a:xfrm>
          <a:prstGeom prst="roundRect">
            <a:avLst/>
          </a:prstGeom>
          <a:solidFill>
            <a:srgbClr val="EA4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5394959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A4B71"/>
                </a:solidFill>
                <a:latin typeface="Arial"/>
              </a:defRPr>
            </a:pPr>
            <a:r>
              <a:t>5세대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5394959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0B0"/>
                </a:solidFill>
                <a:latin typeface="Arial"/>
              </a:defRPr>
            </a:pPr>
            <a:r>
              <a:t>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0" y="5532119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1A2E"/>
                </a:solidFill>
                <a:latin typeface="Arial"/>
              </a:defRPr>
            </a:pPr>
            <a:r>
              <a:t>멀티 에이전트 — 팀으로 협업 (Agent Teams)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217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D2FF"/>
                </a:solidFill>
                <a:latin typeface="Arial"/>
              </a:defRPr>
            </a:pPr>
            <a:r>
              <a:t>우리는 지금 4세대 → 5세대 전환기에 있습니다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rial"/>
              </a:defRPr>
            </a:pPr>
            <a:r>
              <a:t>싱글 에이전트 vs 멀티 에이전트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371600"/>
            <a:ext cx="5303520" cy="320040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A0A0B0"/>
                </a:solidFill>
                <a:latin typeface="Arial"/>
              </a:defRPr>
            </a:pPr>
            <a:r>
              <a:t>싱글 에이전트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47548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A0A0B0"/>
                </a:solidFill>
                <a:latin typeface="Arial"/>
              </a:defRPr>
            </a:pPr>
            <a:r>
              <a:t>하나의 AI가 모든 것을 처리</a:t>
            </a:r>
          </a:p>
          <a:p>
            <a:pPr>
              <a:spcAft>
                <a:spcPts val="800"/>
              </a:spcAft>
              <a:defRPr sz="1500">
                <a:solidFill>
                  <a:srgbClr val="A0A0B0"/>
                </a:solidFill>
                <a:latin typeface="Arial"/>
              </a:defRPr>
            </a:pPr>
            <a:r>
              <a:t>컨텍스트 윈도우 한계에 부딪힘</a:t>
            </a:r>
          </a:p>
          <a:p>
            <a:pPr>
              <a:spcAft>
                <a:spcPts val="800"/>
              </a:spcAft>
              <a:defRPr sz="1500">
                <a:solidFill>
                  <a:srgbClr val="A0A0B0"/>
                </a:solidFill>
                <a:latin typeface="Arial"/>
              </a:defRPr>
            </a:pPr>
            <a:r>
              <a:t>범용적이지만 전문성 부족</a:t>
            </a:r>
          </a:p>
          <a:p>
            <a:pPr>
              <a:spcAft>
                <a:spcPts val="800"/>
              </a:spcAft>
              <a:defRPr sz="1500">
                <a:solidFill>
                  <a:srgbClr val="A0A0B0"/>
                </a:solidFill>
                <a:latin typeface="Arial"/>
              </a:defRPr>
            </a:pPr>
          </a:p>
          <a:p>
            <a:pPr>
              <a:spcAft>
                <a:spcPts val="800"/>
              </a:spcAft>
              <a:defRPr sz="1500">
                <a:solidFill>
                  <a:srgbClr val="A0A0B0"/>
                </a:solidFill>
                <a:latin typeface="Arial"/>
              </a:defRPr>
            </a:pPr>
            <a:r>
              <a:t>DevOps 사례:</a:t>
            </a:r>
          </a:p>
          <a:p>
            <a:pPr>
              <a:spcAft>
                <a:spcPts val="800"/>
              </a:spcAft>
              <a:defRPr sz="1500">
                <a:solidFill>
                  <a:srgbClr val="A0A0B0"/>
                </a:solidFill>
                <a:latin typeface="Arial"/>
              </a:defRPr>
            </a:pPr>
            <a:r>
              <a:t>실행 가능 권고안 1.7% 😢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371600"/>
            <a:ext cx="5303520" cy="320040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0" y="146304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D2FF"/>
                </a:solidFill>
                <a:latin typeface="Arial"/>
              </a:defRPr>
            </a:pPr>
            <a:r>
              <a:t>멀티 에이전트 시스템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2103120"/>
            <a:ext cx="47548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Arial"/>
              </a:defRPr>
            </a:pPr>
            <a:r>
              <a:t>전문 에이전트들이 역할 분담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Arial"/>
              </a:defRPr>
            </a:pPr>
            <a:r>
              <a:t>병렬 실행으로 속도 향상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Arial"/>
              </a:defRPr>
            </a:pPr>
            <a:r>
              <a:t>오케스트레이터가 조율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Arial"/>
              </a:defRPr>
            </a:pP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Arial"/>
              </a:defRPr>
            </a:pPr>
            <a:r>
              <a:t>DevOps 사례: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Arial"/>
              </a:defRPr>
            </a:pPr>
            <a:r>
              <a:t>실행 가능 권고안 100% 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0292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00D2FF"/>
                </a:solidFill>
                <a:latin typeface="Arial"/>
              </a:defRPr>
            </a:pPr>
            <a:r>
              <a:t>Gartner: 멀티 에이전트 시스템 문의 1,445% 급증 (2024 Q1 → 2025 Q2)</a:t>
            </a:r>
          </a:p>
          <a:p>
            <a:pPr>
              <a:spcAft>
                <a:spcPts val="800"/>
              </a:spcAft>
              <a:defRPr sz="1500">
                <a:solidFill>
                  <a:srgbClr val="00D2FF"/>
                </a:solidFill>
                <a:latin typeface="Arial"/>
              </a:defRPr>
            </a:pPr>
            <a:r>
              <a:t>시장 규모: $7.8B → $52B+ (2030 예측)</a:t>
            </a:r>
          </a:p>
          <a:p>
            <a:pPr>
              <a:spcAft>
                <a:spcPts val="800"/>
              </a:spcAft>
              <a:defRPr sz="1500">
                <a:solidFill>
                  <a:srgbClr val="00D2FF"/>
                </a:solidFill>
                <a:latin typeface="Arial"/>
              </a:defRPr>
            </a:pPr>
            <a:r>
              <a:t>에이전틱 AI 성패 = 모델이 아니라 오케스트레이션(조율)에 달려 있다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rial"/>
              </a:defRPr>
            </a:pPr>
            <a:r>
              <a:t>에이전틱 AI 채택 현실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173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Arial"/>
              </a:defRPr>
            </a:pPr>
            <a:r>
              <a:t>탐색 중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560320" y="1371600"/>
            <a:ext cx="2743200" cy="640080"/>
          </a:xfrm>
          <a:prstGeom prst="roundRect">
            <a:avLst/>
          </a:prstGeom>
          <a:solidFill>
            <a:srgbClr val="A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0" y="1417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A0A0B0"/>
                </a:solidFill>
                <a:latin typeface="Arial"/>
              </a:defRPr>
            </a:pPr>
            <a:r>
              <a:t>30%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4231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Arial"/>
              </a:defRPr>
            </a:pPr>
            <a:r>
              <a:t>파일럿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60320" y="2377440"/>
            <a:ext cx="3474720" cy="64008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0" y="24231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7C3AED"/>
                </a:solidFill>
                <a:latin typeface="Arial"/>
              </a:defRPr>
            </a:pPr>
            <a:r>
              <a:t>38%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4290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Arial"/>
              </a:defRPr>
            </a:pPr>
            <a:r>
              <a:t>배포 준비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60320" y="3383280"/>
            <a:ext cx="1280160" cy="640080"/>
          </a:xfrm>
          <a:prstGeom prst="round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0" y="34290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FF"/>
                </a:solidFill>
                <a:latin typeface="Arial"/>
              </a:defRPr>
            </a:pPr>
            <a:r>
              <a:t>14%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4348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Arial"/>
              </a:defRPr>
            </a:pPr>
            <a:r>
              <a:t>실제 운영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60320" y="4389120"/>
            <a:ext cx="1005840" cy="64008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49040" y="44348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0B981"/>
                </a:solidFill>
                <a:latin typeface="Arial"/>
              </a:defRPr>
            </a:pPr>
            <a:r>
              <a:t>11%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029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0B0"/>
                </a:solidFill>
                <a:latin typeface="Arial"/>
              </a:defRPr>
            </a:pPr>
            <a:r>
              <a:t>Gartner: 2026년 말까지 엔터프라이즈 앱 40%에 AI 에이전트 내장</a:t>
            </a:r>
            <a:br/>
            <a:r>
              <a:t>하지만 40%+ 프로젝트가 레거시 호환 문제로 실패 예측</a:t>
            </a:r>
            <a:br/>
            <a:r>
              <a:t>핵심 병목: AI 자체가 아니라 데이터 엔지니어링, 거버넌스, 레거시 통합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A4B71"/>
                </a:solidFill>
                <a:latin typeface="Arial"/>
              </a:defRPr>
            </a:pPr>
            <a:r>
              <a:t>n8n: 에이전틱 AI를 실현하는 플랫폼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5486400" cy="77724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98448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A4B71"/>
                </a:solidFill>
                <a:latin typeface="Arial"/>
              </a:defRPr>
            </a:pPr>
            <a:r>
              <a:t>정체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1298448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Arial"/>
              </a:defRPr>
            </a:pPr>
            <a:r>
              <a:t>Fair-code 워크플로우 자동화 + AI 플랫폼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188720"/>
            <a:ext cx="5486400" cy="77724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298448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A4B71"/>
                </a:solidFill>
                <a:latin typeface="Arial"/>
              </a:defRPr>
            </a:pPr>
            <a:r>
              <a:t>철학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1298448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Arial"/>
              </a:defRPr>
            </a:pPr>
            <a:r>
              <a:t>"코드의 유연성 + 노코드의 속도"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5486400" cy="77724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212848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A4B71"/>
                </a:solidFill>
                <a:latin typeface="Arial"/>
              </a:defRPr>
            </a:pPr>
            <a:r>
              <a:t>통합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2212848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Arial"/>
              </a:defRPr>
            </a:pPr>
            <a:r>
              <a:t>500+ 앱/서비스 연동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2103120"/>
            <a:ext cx="5486400" cy="77724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212848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A4B71"/>
                </a:solidFill>
                <a:latin typeface="Arial"/>
              </a:defRPr>
            </a:pPr>
            <a:r>
              <a:t>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2212848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Arial"/>
              </a:defRPr>
            </a:pPr>
            <a:r>
              <a:t>LangChain 기반 70+ AI 전용 노드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17520"/>
            <a:ext cx="5486400" cy="77724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127248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A4B71"/>
                </a:solidFill>
                <a:latin typeface="Arial"/>
              </a:defRPr>
            </a:pPr>
            <a:r>
              <a:t>배포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20" y="3127248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Arial"/>
              </a:defRPr>
            </a:pPr>
            <a:r>
              <a:t>Self-hosted (무료) 또는 Cloud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3017520"/>
            <a:ext cx="5486400" cy="77724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3127248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A4B71"/>
                </a:solidFill>
                <a:latin typeface="Arial"/>
              </a:defRPr>
            </a:pPr>
            <a:r>
              <a:t>규모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0" y="3127248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Arial"/>
              </a:defRPr>
            </a:pPr>
            <a:r>
              <a:t>$2.5B 밸류에이션, Nvidia 투자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572000"/>
            <a:ext cx="2560320" cy="164592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4632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EA4B71"/>
                </a:solidFill>
                <a:latin typeface="Arial"/>
              </a:defRPr>
            </a:pPr>
            <a:r>
              <a:t>$180M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4864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A0A0B0"/>
                </a:solidFill>
                <a:latin typeface="Arial"/>
              </a:defRPr>
            </a:pPr>
            <a:r>
              <a:t>Series C (Nvidia 참여)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383280" y="4572000"/>
            <a:ext cx="2560320" cy="164592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383280" y="484632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EA4B71"/>
                </a:solidFill>
                <a:latin typeface="Arial"/>
              </a:defRPr>
            </a:pPr>
            <a:r>
              <a:t>$40M+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83280" y="54864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A0A0B0"/>
                </a:solidFill>
                <a:latin typeface="Arial"/>
              </a:defRPr>
            </a:pPr>
            <a:r>
              <a:t>ARR (전년 대비 10x)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09360" y="4572000"/>
            <a:ext cx="2560320" cy="164592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484632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EA4B71"/>
                </a:solidFill>
                <a:latin typeface="Arial"/>
              </a:defRPr>
            </a:pPr>
            <a:r>
              <a:t>3,000+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54864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A0A0B0"/>
                </a:solidFill>
                <a:latin typeface="Arial"/>
              </a:defRPr>
            </a:pPr>
            <a:r>
              <a:t>엔터프라이즈 고객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235440" y="4572000"/>
            <a:ext cx="2560320" cy="164592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5440" y="484632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EA4B71"/>
                </a:solidFill>
                <a:latin typeface="Arial"/>
              </a:defRPr>
            </a:pPr>
            <a:r>
              <a:t>75%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35440" y="54864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A0A0B0"/>
                </a:solidFill>
                <a:latin typeface="Arial"/>
              </a:defRPr>
            </a:pPr>
            <a:r>
              <a:t>고객 AI 도구 활용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rial"/>
              </a:defRPr>
            </a:pPr>
            <a:r>
              <a:t>n8n × 에이전틱 AI 조건 매칭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3474720" cy="219456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3474720" cy="7315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FF"/>
                </a:solidFill>
                <a:latin typeface="Arial"/>
              </a:defRPr>
            </a:pPr>
            <a:r>
              <a:t>자율성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Arial"/>
              </a:defRPr>
            </a:pPr>
            <a:r>
              <a:t>트리거 기반 자동 실행</a:t>
            </a:r>
            <a:br/>
            <a:r>
              <a:t>(Webhook, 스케줄, 이벤트)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188720"/>
            <a:ext cx="3474720" cy="219456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297680" y="1188720"/>
            <a:ext cx="347472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146304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7C3AED"/>
                </a:solidFill>
                <a:latin typeface="Arial"/>
              </a:defRPr>
            </a:pPr>
            <a:r>
              <a:t>다단계 추론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210312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Arial"/>
              </a:defRPr>
            </a:pPr>
            <a:r>
              <a:t>AI Agent 노드</a:t>
            </a:r>
            <a:br/>
            <a:r>
              <a:t>Plan &amp; Execute 패턴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188720"/>
            <a:ext cx="3474720" cy="219456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138160" y="1188720"/>
            <a:ext cx="347472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146304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0B981"/>
                </a:solidFill>
                <a:latin typeface="Arial"/>
              </a:defRPr>
            </a:pPr>
            <a:r>
              <a:t>도구 사용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210312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Arial"/>
              </a:defRPr>
            </a:pPr>
            <a:r>
              <a:t>500+ 통합 + MCP</a:t>
            </a:r>
            <a:br/>
            <a:r>
              <a:t>Client/Server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749039"/>
            <a:ext cx="3474720" cy="219456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749039"/>
            <a:ext cx="3474720" cy="73152"/>
          </a:xfrm>
          <a:prstGeom prst="rect">
            <a:avLst/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023359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600"/>
                </a:solidFill>
                <a:latin typeface="Arial"/>
              </a:defRPr>
            </a:pPr>
            <a:r>
              <a:t>메모리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663439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Arial"/>
              </a:defRPr>
            </a:pPr>
            <a:r>
              <a:t>Simple / PostgreSQL</a:t>
            </a:r>
            <a:br/>
            <a:r>
              <a:t>/ Redis 메모리 노드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7680" y="3749039"/>
            <a:ext cx="3474720" cy="219456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297680" y="3749039"/>
            <a:ext cx="3474720" cy="7315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80560" y="4023359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35"/>
                </a:solidFill>
                <a:latin typeface="Arial"/>
              </a:defRPr>
            </a:pPr>
            <a:r>
              <a:t>적응력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4663439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Arial"/>
              </a:defRPr>
            </a:pPr>
            <a:r>
              <a:t>조건 분기, 에러 핸들링</a:t>
            </a:r>
            <a:br/>
            <a:r>
              <a:t>재시도 로직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38160" y="3749039"/>
            <a:ext cx="3474720" cy="219456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138160" y="3749039"/>
            <a:ext cx="3474720" cy="73152"/>
          </a:xfrm>
          <a:prstGeom prst="rect">
            <a:avLst/>
          </a:prstGeom>
          <a:solidFill>
            <a:srgbClr val="EA4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21040" y="4023359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A4B71"/>
                </a:solidFill>
                <a:latin typeface="Arial"/>
              </a:defRPr>
            </a:pPr>
            <a:r>
              <a:t>목표 지향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0" y="4663439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Arial"/>
              </a:defRPr>
            </a:pPr>
            <a:r>
              <a:t>워크플로우 = 목표 달성까지의</a:t>
            </a:r>
            <a:br/>
            <a:r>
              <a:t>전체 파이프라인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rial"/>
              </a:defRPr>
            </a:pPr>
            <a:r>
              <a:t>n8n의 독보적 포지션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B0"/>
                </a:solidFill>
                <a:latin typeface="Arial"/>
              </a:defRPr>
            </a:pPr>
            <a:r>
              <a:t>에이전틱 AI 도구 스펙트럼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828800"/>
            <a:ext cx="10972800" cy="54864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0A0B0"/>
                </a:solidFill>
                <a:latin typeface="Arial"/>
              </a:defRPr>
            </a:pPr>
            <a:r>
              <a:t>← 코드 전문가용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18288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0">
                <a:solidFill>
                  <a:srgbClr val="A0A0B0"/>
                </a:solidFill>
                <a:latin typeface="Arial"/>
              </a:defRPr>
            </a:pPr>
            <a:r>
              <a:t>비즈니스 팀용 →</a:t>
            </a:r>
          </a:p>
        </p:txBody>
      </p:sp>
      <p:sp>
        <p:nvSpPr>
          <p:cNvPr id="7" name="Oval 6"/>
          <p:cNvSpPr/>
          <p:nvPr/>
        </p:nvSpPr>
        <p:spPr>
          <a:xfrm>
            <a:off x="1097280" y="1920240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4688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7C3AED"/>
                </a:solidFill>
                <a:latin typeface="Arial"/>
              </a:defRPr>
            </a:pPr>
            <a:r>
              <a:t>LangGraph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3464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0B0"/>
                </a:solidFill>
                <a:latin typeface="Arial"/>
              </a:defRPr>
            </a:pPr>
            <a:r>
              <a:t>🔴 높음</a:t>
            </a:r>
          </a:p>
        </p:txBody>
      </p:sp>
      <p:sp>
        <p:nvSpPr>
          <p:cNvPr id="10" name="Oval 9"/>
          <p:cNvSpPr/>
          <p:nvPr/>
        </p:nvSpPr>
        <p:spPr>
          <a:xfrm>
            <a:off x="3200400" y="1920240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0" y="24688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0B981"/>
                </a:solidFill>
                <a:latin typeface="Arial"/>
              </a:defRPr>
            </a:pPr>
            <a:r>
              <a:t>CrewAI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283464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0B0"/>
                </a:solidFill>
                <a:latin typeface="Arial"/>
              </a:defRPr>
            </a:pPr>
            <a:r>
              <a:t>🟡 중간</a:t>
            </a:r>
          </a:p>
        </p:txBody>
      </p:sp>
      <p:sp>
        <p:nvSpPr>
          <p:cNvPr id="13" name="Oval 12"/>
          <p:cNvSpPr/>
          <p:nvPr/>
        </p:nvSpPr>
        <p:spPr>
          <a:xfrm>
            <a:off x="5029200" y="1920240"/>
            <a:ext cx="365760" cy="365760"/>
          </a:xfrm>
          <a:prstGeom prst="ellipse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24688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D2FF"/>
                </a:solidFill>
                <a:latin typeface="Arial"/>
              </a:defRPr>
            </a:pPr>
            <a:r>
              <a:t>Agent SDK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83464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0B0"/>
                </a:solidFill>
                <a:latin typeface="Arial"/>
              </a:defRPr>
            </a:pPr>
            <a:r>
              <a:t>🟡 중간</a:t>
            </a:r>
          </a:p>
        </p:txBody>
      </p:sp>
      <p:sp>
        <p:nvSpPr>
          <p:cNvPr id="16" name="Oval 15"/>
          <p:cNvSpPr/>
          <p:nvPr/>
        </p:nvSpPr>
        <p:spPr>
          <a:xfrm>
            <a:off x="7315200" y="1920240"/>
            <a:ext cx="365760" cy="365760"/>
          </a:xfrm>
          <a:prstGeom prst="ellipse">
            <a:avLst/>
          </a:prstGeom>
          <a:solidFill>
            <a:srgbClr val="EA4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0" y="24688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A4B71"/>
                </a:solidFill>
                <a:latin typeface="Arial"/>
              </a:defRPr>
            </a:pPr>
            <a:r>
              <a:t>n8n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283464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0B0"/>
                </a:solidFill>
                <a:latin typeface="Arial"/>
              </a:defRPr>
            </a:pPr>
            <a:r>
              <a:t>🟢 낮음 ⭐</a:t>
            </a:r>
          </a:p>
        </p:txBody>
      </p:sp>
      <p:sp>
        <p:nvSpPr>
          <p:cNvPr id="19" name="Oval 18"/>
          <p:cNvSpPr/>
          <p:nvPr/>
        </p:nvSpPr>
        <p:spPr>
          <a:xfrm>
            <a:off x="9601200" y="1920240"/>
            <a:ext cx="365760" cy="365760"/>
          </a:xfrm>
          <a:prstGeom prst="ellipse">
            <a:avLst/>
          </a:prstGeom>
          <a:solidFill>
            <a:srgbClr val="A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0" y="24688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A0A0B0"/>
                </a:solidFill>
                <a:latin typeface="Arial"/>
              </a:defRPr>
            </a:pPr>
            <a:r>
              <a:t>Zapier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283464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0B0"/>
                </a:solidFill>
                <a:latin typeface="Arial"/>
              </a:defRPr>
            </a:pPr>
            <a:r>
              <a:t>🟢 낮음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34747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EA4B71"/>
                </a:solidFill>
                <a:latin typeface="Arial"/>
              </a:defRPr>
            </a:pPr>
            <a:r>
              <a:t>n8n = "코드의 유연성 + 노코드의 속도" = Sweet Spot 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42062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D2FF"/>
                </a:solidFill>
                <a:latin typeface="Arial"/>
              </a:defRPr>
            </a:pPr>
            <a:r>
              <a:t>vs LangGraph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0" y="420624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0B981"/>
                </a:solidFill>
                <a:latin typeface="Arial"/>
              </a:defRPr>
            </a:pPr>
            <a:r>
              <a:t>✅ 시각적 빌더, 빠른 구축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0" y="420624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6B35"/>
                </a:solidFill>
                <a:latin typeface="Arial"/>
              </a:defRPr>
            </a:pPr>
            <a:r>
              <a:t>⚠️ 복잡한 상태 머신 열세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8920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D2FF"/>
                </a:solidFill>
                <a:latin typeface="Arial"/>
              </a:defRPr>
            </a:pPr>
            <a:r>
              <a:t>vs CrewAI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0" y="489204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0B981"/>
                </a:solidFill>
                <a:latin typeface="Arial"/>
              </a:defRPr>
            </a:pPr>
            <a:r>
              <a:t>✅ Self-hosted, 데이터 주권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0" y="489204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6B35"/>
                </a:solidFill>
                <a:latin typeface="Arial"/>
              </a:defRPr>
            </a:pPr>
            <a:r>
              <a:t>⚠️ 정교한 크루 구조 열세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55778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D2FF"/>
                </a:solidFill>
                <a:latin typeface="Arial"/>
              </a:defRPr>
            </a:pPr>
            <a:r>
              <a:t>vs Zapier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557784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0B981"/>
                </a:solidFill>
                <a:latin typeface="Arial"/>
              </a:defRPr>
            </a:pPr>
            <a:r>
              <a:t>✅ JS/Python 코드 가능, 비용 효율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32320" y="557784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6B35"/>
                </a:solidFill>
                <a:latin typeface="Arial"/>
              </a:defRPr>
            </a:pPr>
            <a:r>
              <a:t>⚠️ 통합 수 (500 vs 7,000)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rial"/>
              </a:defRPr>
            </a:pPr>
            <a:r>
              <a:t>n8n = 에이전틱 MCP 허브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B0"/>
                </a:solidFill>
                <a:latin typeface="Arial"/>
              </a:defRPr>
            </a:pPr>
            <a:r>
              <a:t>n8n은 MCP를 양방향으로 지원 (2025.04~)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828800"/>
            <a:ext cx="3200400" cy="274320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9202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D2FF"/>
                </a:solidFill>
                <a:latin typeface="Arial"/>
              </a:defRPr>
            </a:pPr>
            <a:r>
              <a:t>외부 MCP 서버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2743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A0A0B0"/>
                </a:solidFill>
                <a:latin typeface="Arial"/>
              </a:defRPr>
            </a:pPr>
            <a:r>
              <a:t>GitHub</a:t>
            </a:r>
          </a:p>
          <a:p>
            <a:pPr>
              <a:spcAft>
                <a:spcPts val="800"/>
              </a:spcAft>
              <a:defRPr sz="1400">
                <a:solidFill>
                  <a:srgbClr val="A0A0B0"/>
                </a:solidFill>
                <a:latin typeface="Arial"/>
              </a:defRPr>
            </a:pPr>
            <a:r>
              <a:t>Slack</a:t>
            </a:r>
          </a:p>
          <a:p>
            <a:pPr>
              <a:spcAft>
                <a:spcPts val="800"/>
              </a:spcAft>
              <a:defRPr sz="1400">
                <a:solidFill>
                  <a:srgbClr val="A0A0B0"/>
                </a:solidFill>
                <a:latin typeface="Arial"/>
              </a:defRPr>
            </a:pPr>
            <a:r>
              <a:t>PostgreSQL</a:t>
            </a:r>
          </a:p>
          <a:p>
            <a:pPr>
              <a:spcAft>
                <a:spcPts val="800"/>
              </a:spcAft>
              <a:defRPr sz="1400">
                <a:solidFill>
                  <a:srgbClr val="A0A0B0"/>
                </a:solidFill>
                <a:latin typeface="Arial"/>
              </a:defRPr>
            </a:pPr>
            <a:r>
              <a:t>파일시스템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0" y="1828800"/>
            <a:ext cx="4114800" cy="27432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0" y="20116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rial"/>
              </a:defRPr>
            </a:pPr>
            <a:r>
              <a:t>n8n 에이전트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2651760"/>
            <a:ext cx="3657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  <a:latin typeface="Arial"/>
              </a:defRPr>
            </a:pPr>
            <a:r>
              <a:t>MCP Client → 도구 소비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  <a:latin typeface="Arial"/>
              </a:defRPr>
            </a:pPr>
            <a:r>
              <a:t>AI Agent → 오케스트레이션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  <a:latin typeface="Arial"/>
              </a:defRPr>
            </a:pPr>
            <a:r>
              <a:t>MCP Server → 도구 노출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1828800"/>
            <a:ext cx="3200400" cy="274320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0" y="19202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EA4B71"/>
                </a:solidFill>
                <a:latin typeface="Arial"/>
              </a:defRPr>
            </a:pPr>
            <a:r>
              <a:t>외부 MCP 클라이언트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0" y="2468880"/>
            <a:ext cx="2743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A0A0B0"/>
                </a:solidFill>
                <a:latin typeface="Arial"/>
              </a:defRPr>
            </a:pPr>
            <a:r>
              <a:t>Claude Desktop</a:t>
            </a:r>
          </a:p>
          <a:p>
            <a:pPr>
              <a:spcAft>
                <a:spcPts val="800"/>
              </a:spcAft>
              <a:defRPr sz="1400">
                <a:solidFill>
                  <a:srgbClr val="A0A0B0"/>
                </a:solidFill>
                <a:latin typeface="Arial"/>
              </a:defRPr>
            </a:pPr>
            <a:r>
              <a:t>Cursor</a:t>
            </a:r>
          </a:p>
          <a:p>
            <a:pPr>
              <a:spcAft>
                <a:spcPts val="800"/>
              </a:spcAft>
              <a:defRPr sz="1400">
                <a:solidFill>
                  <a:srgbClr val="A0A0B0"/>
                </a:solidFill>
                <a:latin typeface="Arial"/>
              </a:defRPr>
            </a:pPr>
            <a:r>
              <a:t>VS Code</a:t>
            </a:r>
          </a:p>
          <a:p>
            <a:pPr>
              <a:spcAft>
                <a:spcPts val="800"/>
              </a:spcAft>
              <a:defRPr sz="1400">
                <a:solidFill>
                  <a:srgbClr val="A0A0B0"/>
                </a:solidFill>
                <a:latin typeface="Arial"/>
              </a:defRPr>
            </a:pPr>
            <a:r>
              <a:t>다른 에이전트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274320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0">
                <a:solidFill>
                  <a:srgbClr val="00D2FF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74320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0">
                <a:solidFill>
                  <a:srgbClr val="EA4B71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846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Arial"/>
              </a:defRPr>
            </a:pPr>
            <a:r>
              <a:t>실제 워크플로우 예시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3949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D2FF"/>
                </a:solidFill>
                <a:latin typeface="Arial"/>
              </a:defRPr>
            </a:pPr>
            <a:r>
              <a:t>고객 문의 에이전트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53949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0A0B0"/>
                </a:solidFill>
                <a:latin typeface="Arial"/>
              </a:defRPr>
            </a:pPr>
            <a:r>
              <a:t>이메일 수신 → AI 분류 → 자동 답변/에스컬레이션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8521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81"/>
                </a:solidFill>
                <a:latin typeface="Arial"/>
              </a:defRPr>
            </a:pPr>
            <a:r>
              <a:t>리서치 에이전트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5852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0A0B0"/>
                </a:solidFill>
                <a:latin typeface="Arial"/>
              </a:defRPr>
            </a:pPr>
            <a:r>
              <a:t>스케줄 → 웹 검색 → RAG 비교 → 리포트 → Slack 공유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3093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6B35"/>
                </a:solidFill>
                <a:latin typeface="Arial"/>
              </a:defRPr>
            </a:pPr>
            <a:r>
              <a:t>DevOps 인시던트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0" y="63093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0A0B0"/>
                </a:solidFill>
                <a:latin typeface="Arial"/>
              </a:defRPr>
            </a:pPr>
            <a:r>
              <a:t>알림 → 로그 분석 → 원인 추론 → 자동 대응/호출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rial"/>
              </a:defRPr>
            </a:pPr>
            <a:r>
              <a:t>n8n 실제 도입 사례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10972800" cy="91440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09728" cy="9144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FF"/>
                </a:solidFill>
                <a:latin typeface="Arial"/>
              </a:defRPr>
            </a:pPr>
            <a:r>
              <a:t>Delivery Hero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13258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Arial"/>
              </a:defRPr>
            </a:pPr>
            <a:r>
              <a:t>운영 자동화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13258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0B981"/>
                </a:solidFill>
                <a:latin typeface="Arial"/>
              </a:defRPr>
            </a:pPr>
            <a:r>
              <a:t>월 200시간 절약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240280"/>
            <a:ext cx="10972800" cy="91440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240280"/>
            <a:ext cx="109728" cy="914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3774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0B981"/>
                </a:solidFill>
                <a:latin typeface="Arial"/>
              </a:defRPr>
            </a:pPr>
            <a:r>
              <a:t>BeGlobal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3774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Arial"/>
              </a:defRPr>
            </a:pPr>
            <a:r>
              <a:t>AI 맞춤 제안서 생성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237744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0B981"/>
                </a:solidFill>
                <a:latin typeface="Arial"/>
              </a:defRPr>
            </a:pPr>
            <a:r>
              <a:t>10배 확장, 1분 이내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291839"/>
            <a:ext cx="10972800" cy="91440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291839"/>
            <a:ext cx="109728" cy="9144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428999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35"/>
                </a:solidFill>
                <a:latin typeface="Arial"/>
              </a:defRPr>
            </a:pPr>
            <a:r>
              <a:t>System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428999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Arial"/>
              </a:defRPr>
            </a:pPr>
            <a:r>
              <a:t>AI 데이터 입력 자동화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0" y="3428999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0B981"/>
                </a:solidFill>
                <a:latin typeface="Arial"/>
              </a:defRPr>
            </a:pPr>
            <a:r>
              <a:t>처리 시간 97% 감소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343400"/>
            <a:ext cx="10972800" cy="91440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4343400"/>
            <a:ext cx="109728" cy="914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4805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7C3AED"/>
                </a:solidFill>
                <a:latin typeface="Arial"/>
              </a:defRPr>
            </a:pPr>
            <a:r>
              <a:t>XIBIX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0" y="44805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Arial"/>
              </a:defRPr>
            </a:pPr>
            <a:r>
              <a:t>HR 질문 AI 워크플로우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0" y="44805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0B981"/>
                </a:solidFill>
                <a:latin typeface="Arial"/>
              </a:defRPr>
            </a:pPr>
            <a:r>
              <a:t>HR 문의 50% 감소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5394959"/>
            <a:ext cx="10972800" cy="91440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5394959"/>
            <a:ext cx="109728" cy="914400"/>
          </a:xfrm>
          <a:prstGeom prst="rect">
            <a:avLst/>
          </a:prstGeom>
          <a:solidFill>
            <a:srgbClr val="EA4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532119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A4B71"/>
                </a:solidFill>
                <a:latin typeface="Arial"/>
              </a:defRPr>
            </a:pPr>
            <a:r>
              <a:t>Flow AI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5532119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Arial"/>
              </a:defRPr>
            </a:pPr>
            <a:r>
              <a:t>부동산 음성 AI 아웃리치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0" y="5532119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0B981"/>
                </a:solidFill>
                <a:latin typeface="Arial"/>
              </a:defRPr>
            </a:pPr>
            <a:r>
              <a:t>수동 후속 완전 자동화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rial"/>
              </a:defRPr>
            </a:pPr>
            <a:r>
              <a:t>솔직한 평가: 가능성과 과제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5303520" cy="411480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0B981"/>
                </a:solidFill>
                <a:latin typeface="Arial"/>
              </a:defRPr>
            </a:pPr>
            <a:r>
              <a:t>✅ 가능성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4754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  <a:latin typeface="Arial"/>
              </a:defRPr>
            </a:pPr>
            <a:r>
              <a:t>노코드/로우코드로 에이전트 민주화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  <a:latin typeface="Arial"/>
              </a:defRPr>
            </a:pPr>
            <a:r>
              <a:t>Self-hosted로 데이터 주권 확보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  <a:latin typeface="Arial"/>
              </a:defRPr>
            </a:pPr>
            <a:r>
              <a:t>500+ 통합으로 레거시 시스템 연결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  <a:latin typeface="Arial"/>
              </a:defRPr>
            </a:pPr>
            <a:r>
              <a:t>MCP 양방향 지원 → 생태계 허브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  <a:latin typeface="Arial"/>
              </a:defRPr>
            </a:pPr>
            <a:r>
              <a:t>시각적 빌더로 빠른 프로토타이핑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  <a:latin typeface="Arial"/>
              </a:defRPr>
            </a:pPr>
            <a:r>
              <a:t>Nvidia 투자, $2.5B 밸류에이션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188720"/>
            <a:ext cx="5303520" cy="411480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0" y="128016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6B35"/>
                </a:solidFill>
                <a:latin typeface="Arial"/>
              </a:defRPr>
            </a:pPr>
            <a:r>
              <a:t>⚠️ 과제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1920240"/>
            <a:ext cx="4754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A0A0B0"/>
                </a:solidFill>
                <a:latin typeface="Arial"/>
              </a:defRPr>
            </a:pPr>
            <a:r>
              <a:t>복잡한 에이전트 로직 → 코드가 유리</a:t>
            </a:r>
          </a:p>
          <a:p>
            <a:pPr>
              <a:spcAft>
                <a:spcPts val="1200"/>
              </a:spcAft>
              <a:defRPr sz="1500">
                <a:solidFill>
                  <a:srgbClr val="A0A0B0"/>
                </a:solidFill>
                <a:latin typeface="Arial"/>
              </a:defRPr>
            </a:pPr>
            <a:r>
              <a:t>엔터프라이즈 거버넌스·보안 검증 필요</a:t>
            </a:r>
          </a:p>
          <a:p>
            <a:pPr>
              <a:spcAft>
                <a:spcPts val="1200"/>
              </a:spcAft>
              <a:defRPr sz="1500">
                <a:solidFill>
                  <a:srgbClr val="A0A0B0"/>
                </a:solidFill>
                <a:latin typeface="Arial"/>
              </a:defRPr>
            </a:pPr>
            <a:r>
              <a:t>LLM 토큰 비용 관리 필요</a:t>
            </a:r>
          </a:p>
          <a:p>
            <a:pPr>
              <a:spcAft>
                <a:spcPts val="1200"/>
              </a:spcAft>
              <a:defRPr sz="1500">
                <a:solidFill>
                  <a:srgbClr val="A0A0B0"/>
                </a:solidFill>
                <a:latin typeface="Arial"/>
              </a:defRPr>
            </a:pPr>
            <a:r>
              <a:t>MCP 자체의 효율성 논쟁</a:t>
            </a:r>
          </a:p>
          <a:p>
            <a:pPr>
              <a:spcAft>
                <a:spcPts val="1200"/>
              </a:spcAft>
              <a:defRPr sz="1500">
                <a:solidFill>
                  <a:srgbClr val="A0A0B0"/>
                </a:solidFill>
                <a:latin typeface="Arial"/>
              </a:defRPr>
            </a:pPr>
            <a:r>
              <a:t>프로덕션 안정성 추가 검증 필요</a:t>
            </a:r>
          </a:p>
          <a:p>
            <a:pPr>
              <a:spcAft>
                <a:spcPts val="1200"/>
              </a:spcAft>
              <a:defRPr sz="1500">
                <a:solidFill>
                  <a:srgbClr val="A0A0B0"/>
                </a:solidFill>
                <a:latin typeface="Arial"/>
              </a:defRPr>
            </a:pPr>
            <a:r>
              <a:t>성공 보장은 없음 (11%만 실운영)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6692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EA4B71"/>
                </a:solidFill>
                <a:latin typeface="Arial"/>
              </a:defRPr>
            </a:pPr>
            <a:r>
              <a:t>성공할지 실패할지는 차치하고 — 시도 자체가 학습이다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rial"/>
              </a:defRPr>
            </a:pPr>
            <a:r>
              <a:t>전체 흐름 요약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828800" y="1097280"/>
            <a:ext cx="8229600" cy="73152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1097280"/>
            <a:ext cx="91440" cy="731520"/>
          </a:xfrm>
          <a:prstGeom prst="rect">
            <a:avLst/>
          </a:prstGeom>
          <a:solidFill>
            <a:srgbClr val="A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94560" y="11887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모델이 똑똑해졌다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11887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0A0B0"/>
                </a:solidFill>
                <a:latin typeface="Arial"/>
              </a:defRPr>
            </a:pPr>
            <a:r>
              <a:t>LLM 경쟁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720" y="16459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A0B0"/>
                </a:solidFill>
                <a:latin typeface="Arial"/>
              </a:defRPr>
            </a:pPr>
            <a:r>
              <a:t>↓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28800" y="1965960"/>
            <a:ext cx="8229600" cy="73152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828800" y="1965960"/>
            <a:ext cx="91440" cy="73152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94560" y="20574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도구를 쓸 수 있게 됐다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20574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00D2FF"/>
                </a:solidFill>
                <a:latin typeface="Arial"/>
              </a:defRPr>
            </a:pPr>
            <a:r>
              <a:t>MCP, 네이티브 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0" y="25146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A0B0"/>
                </a:solidFill>
                <a:latin typeface="Arial"/>
              </a:defRPr>
            </a:pPr>
            <a:r>
              <a:t>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28800" y="2834639"/>
            <a:ext cx="8229600" cy="73152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828800" y="2834639"/>
            <a:ext cx="91440" cy="7315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94560" y="2926079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코드도 직접 쓴다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2926079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7C3AED"/>
                </a:solidFill>
                <a:latin typeface="Arial"/>
              </a:defRPr>
            </a:pPr>
            <a:r>
              <a:t>CLI, 바이브 코딩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720" y="3383279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A0B0"/>
                </a:solidFill>
                <a:latin typeface="Arial"/>
              </a:defRPr>
            </a:pPr>
            <a:r>
              <a:t>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828800" y="3703320"/>
            <a:ext cx="8229600" cy="73152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828800" y="3703320"/>
            <a:ext cx="91440" cy="7315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194560" y="37947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컨텍스트를 관리한다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37947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0B981"/>
                </a:solidFill>
                <a:latin typeface="Arial"/>
              </a:defRPr>
            </a:pPr>
            <a:r>
              <a:t>컨텍스트 엔지니어링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60720" y="42519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A0B0"/>
                </a:solidFill>
                <a:latin typeface="Arial"/>
              </a:defRPr>
            </a:pPr>
            <a:r>
              <a:t>↓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828800" y="4572000"/>
            <a:ext cx="8229600" cy="73152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828800" y="4572000"/>
            <a:ext cx="91440" cy="7315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194560" y="46634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혼자서 일을 한다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46634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6B35"/>
                </a:solidFill>
                <a:latin typeface="Arial"/>
              </a:defRPr>
            </a:pPr>
            <a:r>
              <a:t>에이전틱 AI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60720" y="512064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A0B0"/>
                </a:solidFill>
                <a:latin typeface="Arial"/>
              </a:defRPr>
            </a:pPr>
            <a:r>
              <a:t>↓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828800" y="5440680"/>
            <a:ext cx="8229600" cy="73152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828800" y="5440680"/>
            <a:ext cx="91440" cy="731520"/>
          </a:xfrm>
          <a:prstGeom prst="rect">
            <a:avLst/>
          </a:prstGeom>
          <a:solidFill>
            <a:srgbClr val="EA4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194560" y="55321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팀으로 협업한다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0" y="55321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A4B71"/>
                </a:solidFill>
                <a:latin typeface="Arial"/>
              </a:defRPr>
            </a:pPr>
            <a:r>
              <a:t>멀티 에이전트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EA4B71"/>
                </a:solidFill>
                <a:latin typeface="Arial"/>
              </a:defRPr>
            </a:pPr>
            <a:r>
              <a:t>★ 이 모든 것을 시각적으로 조합하고 실행하는 플랫폼 = n8n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rial"/>
              </a:defRPr>
            </a:pPr>
            <a:r>
              <a:t>다음 스텝 제안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371600"/>
            <a:ext cx="2560320" cy="365760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2560320" cy="7315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D2FF"/>
                </a:solidFill>
                <a:latin typeface="Arial"/>
              </a:defRPr>
            </a:pPr>
            <a:r>
              <a:t>1주차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Arial"/>
              </a:defRPr>
            </a:pPr>
            <a:r>
              <a:t>n8n Self-hosted 설치</a:t>
            </a:r>
            <a:br/>
            <a:r>
              <a:t>기본 워크플로우 체험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A0B0"/>
                </a:solidFill>
                <a:latin typeface="Arial"/>
              </a:defRPr>
            </a:pPr>
            <a:r>
              <a:t>도구 익히기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1371600"/>
            <a:ext cx="2560320" cy="365760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383280" y="1371600"/>
            <a:ext cx="256032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83280" y="16459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7C3AED"/>
                </a:solidFill>
                <a:latin typeface="Arial"/>
              </a:defRPr>
            </a:pPr>
            <a:r>
              <a:t>2주차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228600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Arial"/>
              </a:defRPr>
            </a:pPr>
            <a:r>
              <a:t>AI Agent 노드로</a:t>
            </a:r>
            <a:br/>
            <a:r>
              <a:t>간단한 자동화 구축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41148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A0B0"/>
                </a:solidFill>
                <a:latin typeface="Arial"/>
              </a:defRPr>
            </a:pPr>
            <a:r>
              <a:t>가능성 검증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371600"/>
            <a:ext cx="2560320" cy="365760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371600"/>
            <a:ext cx="256032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16459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10B981"/>
                </a:solidFill>
                <a:latin typeface="Arial"/>
              </a:defRPr>
            </a:pPr>
            <a:r>
              <a:t>3주차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28600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Arial"/>
              </a:defRPr>
            </a:pPr>
            <a:r>
              <a:t>실제 업무 하나를</a:t>
            </a:r>
            <a:br/>
            <a:r>
              <a:t>에이전틱 워크플로우로 전환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41148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A0B0"/>
                </a:solidFill>
                <a:latin typeface="Arial"/>
              </a:defRPr>
            </a:pPr>
            <a:r>
              <a:t>실무 적용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35440" y="1371600"/>
            <a:ext cx="2560320" cy="365760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235440" y="1371600"/>
            <a:ext cx="2560320" cy="73152"/>
          </a:xfrm>
          <a:prstGeom prst="rect">
            <a:avLst/>
          </a:prstGeom>
          <a:solidFill>
            <a:srgbClr val="EA4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35440" y="16459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EA4B71"/>
                </a:solidFill>
                <a:latin typeface="Arial"/>
              </a:defRPr>
            </a:pPr>
            <a:r>
              <a:t>4주차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0" y="228600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Arial"/>
              </a:defRPr>
            </a:pPr>
            <a:r>
              <a:t>팀 리뷰</a:t>
            </a:r>
            <a:br/>
            <a:r>
              <a:t>확대 적용 여부 결정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440" y="41148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A0B0"/>
                </a:solidFill>
                <a:latin typeface="Arial"/>
              </a:defRPr>
            </a:pPr>
            <a:r>
              <a:t>Go / No-Go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Arial"/>
              </a:defRPr>
            </a:pPr>
            <a:r>
              <a:t>"에이전틱 AI의 성패는</a:t>
            </a:r>
            <a:br/>
            <a:r>
              <a:t>모델이 아니라 오케스트레이션에 달려 있다"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3200400"/>
            <a:ext cx="4572000" cy="254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A0A0B0"/>
                </a:solidFill>
                <a:latin typeface="Arial"/>
              </a:defRPr>
            </a:pPr>
            <a:r>
              <a:t>성공할지 실패할지는 아직 모른다.</a:t>
            </a:r>
            <a:br/>
            <a:r>
              <a:t>하지만 해보지 않으면 영원히 모른다.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EA4B71"/>
                </a:solidFill>
                <a:latin typeface="Arial"/>
              </a:defRPr>
            </a:pPr>
            <a:r>
              <a:t>에이전틱 AI 시대는 이미 시작되었고,</a:t>
            </a:r>
            <a:br/>
            <a:r>
              <a:t>n8n은 그 시작을 가장 낮은 문턱에서 열어준다.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Arial"/>
              </a:defRPr>
            </a:pPr>
            <a:r>
              <a:t>Q &amp; 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00D2FF"/>
                </a:solidFill>
                <a:latin typeface="Arial"/>
              </a:defRPr>
            </a:pPr>
            <a:r>
              <a:t>감사합니다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