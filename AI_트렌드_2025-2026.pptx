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 후 제목 소개. '오늘은 최근 급변한 AI 트렌드를 정리하고, 우리 팀이 활용할 수 있는 구체적인 방안을 공유하겠습니다.'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던지고 2-3초 침묵. 청중의 주의를 환기시킨 후 '실제로 지난 1년간 정말 많은 변화가 있었습니다' 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 슬라이드. '발표에 전문 용어가 많이 나옵니다. 핵심만 빠르게 짚고 가겠습니다. 모르는 용어 나오면 언제든 질문해 주세요.'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타임라인. '이 타임라인에서 주목할 점은 — 변화의 속도입니다. 2024년 말부터 불과 1년 사이에 이 모든 일이 일어났습니다.'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개요. 'USB-C 비유로 설명. 예전에는 각 기기마다 다른 충전기가 필요했듯이, AI도 각 서비스마다 별도 연결이 필요했습니다. MCP는 이걸 하나로 통일한 겁니다.'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한계. '그런데 재미있는 건, 표준이 만들어지자마자 각 서비스들이 자체 AI를 내장하기 시작했다는 겁니다. 마치 USB-C가 보급되는데 무선 충전이 더 편해진 느낌.'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'성공 보장은 없지만, 시도 자체가 학습입니다. 특히 우리 같은 수입차 업계에서 고객 응대, 예측 정비, 시장 분석 분야에서 충분히 시도해볼 가치가 있습니다.'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'에이전틱 AI의 핵심은 결국 오케스트레이션 — 여러 도구와 AI를 얼마나 잘 조합하느냐입니다. n8n은 그 진입 문턱을 가장 낮춰주는 플랫폼입니다.'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'감사합니다. 궁금한 점이나 우리 업무에 적용해보고 싶은 아이디어가 있으시면 자유롭게 말씀해 주세요.'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ple SD Gothic Neo"/>
              </a:defRPr>
            </a:pPr>
            <a:r>
              <a:t>AI 트렌드 2025-2026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Apple SD Gothic Neo"/>
              </a:defRPr>
            </a:pPr>
            <a:r>
              <a:t>에이전틱 AI 시대와 n8n의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Apple SD Gothic Neo"/>
              </a:defRPr>
            </a:pPr>
            <a:r>
              <a:t>IT팀 내부 공유  |  2026년 3월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6400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ple SD Gothic Neo"/>
              </a:defRPr>
            </a:pPr>
            <a:r>
              <a:t>"지난 1년, AI 업계에서</a:t>
            </a:r>
            <a:br/>
            <a:r>
              <a:t>무슨 일이 있었을까요?"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Apple SD Gothic Neo"/>
              </a:defRPr>
            </a:pPr>
            <a:r>
              <a:t>ChatGPT 이후 2년... 세상은 상상 이상으로 빠르게 바뀌고 있습니다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오늘 발표에서 나올 주요 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AI/IT 용어가 많이 등장합니다. 핵심만 먼저 짚고 갈게요!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Apple SD Gothic Neo"/>
              </a:defRPr>
            </a:pPr>
            <a:r>
              <a:t>LLM (Large Language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ChatGPT 같은 대규모 언어 AI 모델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pple SD Gothic Neo"/>
              </a:defRPr>
            </a:pPr>
            <a:r>
              <a:t>에이전트 (Agent)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스스로 판단하고 행동하는 AI 프로그램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pple SD Gothic Neo"/>
              </a:defRPr>
            </a:pPr>
            <a:r>
              <a:t>MCP (Model Context Protocol)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AI가 외부 도구에 접속하는 표준 규격 (USB-C 같은 것)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91440" cy="8686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Apple SD Gothic Neo"/>
              </a:defRPr>
            </a:pPr>
            <a:r>
              <a:t>CLI (Command Line Interface)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터미널/명령줄 — 마우스 대신 텍스트로 조작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91440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Apple SD Gothic Neo"/>
              </a:defRPr>
            </a:pPr>
            <a:r>
              <a:t>토큰 (Token)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AI가 텍스트를 처리하는 단위 (≈ 한글 1글자 or 영어 4글자)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74720"/>
            <a:ext cx="91440" cy="86868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B71"/>
                </a:solidFill>
                <a:latin typeface="Apple SD Gothic Neo"/>
              </a:defRPr>
            </a:pPr>
            <a:r>
              <a:t>RAG (Retrieval Augmented Generation)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AI가 외부 문서를 검색해서 답변에 활용하는 기술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8056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8056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26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Apple SD Gothic Neo"/>
              </a:defRPr>
            </a:pPr>
            <a:r>
              <a:t>워크플로우 (Workflow)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업무 처리 흐름을 자동화한 것 (A→B→C 순서대로 실행)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48056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480560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526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pple SD Gothic Neo"/>
              </a:defRPr>
            </a:pPr>
            <a:r>
              <a:t>오케스트레이션 (Orchestration)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여러 AI/도구를 지휘·조율하는 것 (지휘자 역할)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48640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48640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pple SD Gothic Neo"/>
              </a:defRPr>
            </a:pPr>
            <a:r>
              <a:t>Fair-code (Fair-code)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오픈소스와 유사하나 상업적 재배포에 제한을 둔 라이선스 모델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48640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486400"/>
            <a:ext cx="91440" cy="86868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B71"/>
                </a:solidFill>
                <a:latin typeface="Apple SD Gothic Neo"/>
              </a:defRPr>
            </a:pPr>
            <a:r>
              <a:t>노코드/로우코드 (No-code/Low-code)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코드 없이 드래그 앤 드롭으로 소프트웨어를 만드는 방식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Apple SD Gothic Neo"/>
              </a:defRPr>
            </a:pPr>
            <a:r>
              <a:t>💡 발표 중 모르는 용어가 나오면 언제든 질문해 주세요!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최근 1년 타임라인</a:t>
            </a:r>
          </a:p>
        </p:txBody>
      </p:sp>
      <p:sp>
        <p:nvSpPr>
          <p:cNvPr id="3" name="Oval 2"/>
          <p:cNvSpPr/>
          <p:nvPr/>
        </p:nvSpPr>
        <p:spPr>
          <a:xfrm>
            <a:off x="1188720" y="1371600"/>
            <a:ext cx="228600" cy="228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Apple SD Gothic Neo"/>
              </a:defRPr>
            </a:pPr>
            <a:r>
              <a:t>2024.11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MCP 발표</a:t>
            </a:r>
          </a:p>
        </p:txBody>
      </p:sp>
      <p:sp>
        <p:nvSpPr>
          <p:cNvPr id="6" name="Oval 5"/>
          <p:cNvSpPr/>
          <p:nvPr/>
        </p:nvSpPr>
        <p:spPr>
          <a:xfrm>
            <a:off x="3474720" y="1371600"/>
            <a:ext cx="228600" cy="228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Apple SD Gothic Neo"/>
              </a:defRPr>
            </a:pPr>
            <a:r>
              <a:t>2025.01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DeepSeek R1 충격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1371600"/>
            <a:ext cx="228600" cy="22860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600"/>
                </a:solidFill>
                <a:latin typeface="Apple SD Gothic Neo"/>
              </a:defRPr>
            </a:pPr>
            <a:r>
              <a:t>2025.02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바이브 코딩 등장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1371600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Apple SD Gothic Neo"/>
              </a:defRPr>
            </a:pPr>
            <a:r>
              <a:t>2025.03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OpenAI Agents SDK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20" y="1371600"/>
            <a:ext cx="228600" cy="228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Apple SD Gothic Neo"/>
              </a:defRPr>
            </a:pPr>
            <a:r>
              <a:t>2025.05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Claude Code 출시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393192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Apple SD Gothic Neo"/>
              </a:defRPr>
            </a:pPr>
            <a:r>
              <a:t>2025.09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Notion 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3931920"/>
            <a:ext cx="228600" cy="22860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4B71"/>
                </a:solidFill>
                <a:latin typeface="Apple SD Gothic Neo"/>
              </a:defRPr>
            </a:pPr>
            <a:r>
              <a:t>2025.10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n8n $180M 투자</a:t>
            </a:r>
          </a:p>
        </p:txBody>
      </p:sp>
      <p:sp>
        <p:nvSpPr>
          <p:cNvPr id="24" name="Oval 23"/>
          <p:cNvSpPr/>
          <p:nvPr/>
        </p:nvSpPr>
        <p:spPr>
          <a:xfrm>
            <a:off x="5760720" y="3931920"/>
            <a:ext cx="228600" cy="228600"/>
          </a:xfrm>
          <a:prstGeom prst="ellipse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A0B0"/>
                </a:solidFill>
                <a:latin typeface="Apple SD Gothic Neo"/>
              </a:defRPr>
            </a:pPr>
            <a:r>
              <a:t>2025.12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MCP → Linux 재단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3931920"/>
            <a:ext cx="228600" cy="228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Apple SD Gothic Neo"/>
              </a:defRPr>
            </a:pPr>
            <a:r>
              <a:t>2026.01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오픈클로 25만 스타</a:t>
            </a:r>
          </a:p>
        </p:txBody>
      </p:sp>
      <p:sp>
        <p:nvSpPr>
          <p:cNvPr id="30" name="Oval 29"/>
          <p:cNvSpPr/>
          <p:nvPr/>
        </p:nvSpPr>
        <p:spPr>
          <a:xfrm>
            <a:off x="10332720" y="3931920"/>
            <a:ext cx="228600" cy="228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Apple SD Gothic Neo"/>
              </a:defRPr>
            </a:pPr>
            <a:r>
              <a:t>2026.02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Claude 4.6 출시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AI: "대화 도구" → "일하는 에이전트" → "시스템을 운영하는 팀"으로 진화 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LLM 모델 경쟁: 5파전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ple SD Gothic Neo"/>
              </a:defRPr>
            </a:pPr>
            <a:r>
              <a:t>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GPT-4.1, o3, o4-mini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추론 특화, 1M 토큰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09728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Claude 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코딩 1위, 30h+ 자율 에이전트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3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109728" cy="914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428999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Apple SD Gothic Neo"/>
              </a:defRPr>
            </a:pPr>
            <a: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Gemini 2.5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1M 토큰, Deep Think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10972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pple SD Gothic Neo"/>
              </a:defRPr>
            </a:pPr>
            <a:r>
              <a:t>오픈소스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DeepSeek, Llama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가격 파괴, 10M 토큰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9495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94959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5532119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86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pple SD Gothic Neo"/>
              </a:defRPr>
            </a:pPr>
            <a:r>
              <a:t>챌린저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4863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Grok 3, Mistral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4863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인프라 + EU 데이터 주권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Apple SD Gothic Neo"/>
              </a:defRPr>
            </a:pPr>
            <a:r>
              <a:t>경쟁의 핵심: 벤치마크 → 에이전트 능력 → 팀 조율 능력으로 전환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모델 경쟁의 핵심 축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A0B0"/>
                </a:solidFill>
                <a:latin typeface="Apple SD Gothic Neo"/>
              </a:defRPr>
            </a:pPr>
            <a:r>
              <a:t>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17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pple SD Gothic Neo"/>
              </a:defRPr>
            </a:pPr>
            <a:r>
              <a:t>벤치마크 점수 경쟁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A0A0B0"/>
                </a:solidFill>
                <a:latin typeface="Apple SD Gothic Neo"/>
              </a:defRPr>
            </a:pPr>
            <a: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Apple SD Gothic Neo"/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880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pple SD Gothic Neo"/>
              </a:defRPr>
            </a:pPr>
            <a:r>
              <a:t>얼마나 오래 자율 작업 가능?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A0A0B0"/>
                </a:solidFill>
                <a:latin typeface="Apple SD Gothic Neo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pple SD Gothic Neo"/>
              </a:defRPr>
            </a:pPr>
            <a: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43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pple SD Gothic Neo"/>
              </a:defRPr>
            </a:pPr>
            <a:r>
              <a:t>에이전트 팀을 얼마나 잘 조율?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✦ 모든 모델이 추론(thinking) 모드 탑재 → 기본 기능화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✦ DeepSeek R1 이후 전반적 가격 하락 → 비용 장벽 소멸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✦ 오픈소스가 클로즈드 모델 성능에 급격히 근접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MCP: AI의 USB-C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Apple SD Gothic Neo"/>
              </a:defRPr>
            </a:pPr>
            <a:r>
              <a:t>Model Context Protocol — AI가 외부 도구에 접속하는 범용 표준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pple SD Gothic Neo"/>
              </a:defRPr>
            </a:pPr>
            <a:r>
              <a:t>Before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AI 모델 A ─── 커스텀 코드 ─── GitHub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AI 모델 A ─── 커스텀 코드 ─── Slack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AI 모델 B ─── 커스텀 코드 ─── GitHub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...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M × N 개의 통합 코드 필요 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ple SD Gothic Neo"/>
              </a:defRPr>
            </a:pPr>
            <a:r>
              <a:t>After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AI 모델 A ─┐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AI 모델 B ─┼─ MCP ─┬─ GitHub Server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AI 모델 C ─┘       ├─ Slack Server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                    └─ DB Server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M + N 개의 구현으로 충분! 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Apple SD Gothic Neo"/>
              </a:defRPr>
            </a:pPr>
            <a:r>
              <a:t>5,800+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MCP 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Apple SD Gothic Neo"/>
              </a:defRPr>
            </a:pPr>
            <a:r>
              <a:t>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클라이언트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Apple SD Gothic Neo"/>
              </a:defRPr>
            </a:pPr>
            <a:r>
              <a:t>9,700만+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월간 다운로드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Apple SD Gothic Neo"/>
              </a:defRPr>
            </a:pPr>
            <a:r>
              <a:t>그런데... MCP는 이미 사양의 기미?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Apple SD Gothic Neo"/>
              </a:defRPr>
            </a:pPr>
            <a:r>
              <a:t>주요 서비스들이 자체 AI 에이전트를 내장하기 시작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0972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Notion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3.0 AI Agents → 3.3 Custom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네이티브 주력, MCP도 병행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GitHub Copilot Agent 네이티브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MCP 없이 직접 연동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0972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Copilot CLI + Agent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자체 CLI가 MCP보다 효율적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Apple SD Gothic Neo"/>
              </a:defRPr>
            </a:pPr>
            <a:r>
              <a:t>→ 주요 서비스들이 자체 AI를 내장하면서 MCP 의존도가 줄어드는 추세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CLI vs MCP: 효율성 논쟁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Apple SD Gothic Neo"/>
              </a:defRPr>
            </a:pPr>
            <a:r>
              <a:t>CLI 도구가 MCP보다 AI 에이전트에게 더 효율적일 수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ple SD Gothic Neo"/>
              </a:defRPr>
            </a:pPr>
            <a:r>
              <a:t>CLI 방식 (gh, kubectl 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토큰 비용: ~200 토큰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LLM이 이미 학습 데이터에서 잘 알고 있음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벤치마크 33% 우위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예: gh pr list → 바로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pple SD Gothic Neo"/>
              </a:defRPr>
            </a:pPr>
            <a:r>
              <a:t>MCP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토큰 비용: ~55,000 토큰 (GitHub 93개 도구)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런타임에 처음 만나는 스키마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컨텍스트 소모 과다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범용성은 높지만 비효율적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91440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3949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MCP는 사라지지 않는다 (이미 표준)</a:t>
            </a:r>
            <a:br/>
            <a:r>
              <a:t>하지만 "만능 열쇠"에서 "여러 방법 중 하나"로 변화</a:t>
            </a:r>
            <a:br/>
            <a:r>
              <a:t>진짜 승자: 이 모든 것을 조합하는 오케스트레이션 레이어 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CLI로의 회귀 &amp; 바이브 코딩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0A0B0"/>
                </a:solidFill>
                <a:latin typeface="Apple SD Gothic Neo"/>
              </a:defRPr>
            </a:pPr>
            <a:r>
              <a:t>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ple SD Gothic Neo"/>
              </a:defRPr>
            </a:pPr>
            <a:r>
              <a:t>자동완성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Copilot, Tabnine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Apple SD Gothic Neo"/>
              </a:defRPr>
            </a:pPr>
            <a:r>
              <a:t>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ple SD Gothic Neo"/>
              </a:defRPr>
            </a:pPr>
            <a:r>
              <a:t>대화형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Cursor, Windsurf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Apple SD Gothic Neo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ple SD Gothic Neo"/>
              </a:defRPr>
            </a:pPr>
            <a:r>
              <a:t>CLI 에이전트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Claude Code, Aider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4B71"/>
                </a:solidFill>
                <a:latin typeface="Apple SD Gothic Neo"/>
              </a:defRPr>
            </a:pPr>
            <a: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ple SD Gothic Neo"/>
              </a:defRPr>
            </a:pPr>
            <a:r>
              <a:t>팀 에이전트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Claude Teams, 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Apple SD Gothic Neo"/>
              </a:defRPr>
            </a:pPr>
            <a:r>
              <a:t>Claude Code: 8개월 만에 선호도 1위 (46%)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Apple SD Gothic Neo"/>
              </a:defRPr>
            </a:pPr>
            <a:r>
              <a:t>바이브 코딩 (Karpathy, 2025.02)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"코드가 존재한다는 사실조차 잊어라"</a:t>
            </a:r>
            <a:br/>
            <a:r>
              <a:t>→ 오픈클로: 25만 스타, 코드 안 읽고 배포</a:t>
            </a:r>
            <a:br/>
            <a:r>
              <a:t>→ 보안 취약점 2.74배 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에이전틱 엔지니어링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"바이브 코딩은 이제 지나간 것" — Karpathy</a:t>
            </a:r>
            <a:br/>
            <a:r>
              <a:t>→ AI가 코드를 쓰되, 사람이 감독·조율</a:t>
            </a:r>
            <a:br/>
            <a:r>
              <a:t>→ 품질과 보안도 중요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Apple SD Gothic Neo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프롬프트 → 컨텍스트 엔지니어링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"AI의 새로운 핵심 역량은 프롬프팅이 아니라 컨텍스트 엔지니어링" — Tobi Lutke (Shopify CEO)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657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프롬프트 엔지니어링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657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컨텍스트 엔지니어링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범위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하나의 텍스트 문자열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Apple SD Gothic Neo"/>
              </a:defRPr>
            </a:pPr>
            <a:r>
              <a:t>전체 정보 아키텍처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036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시점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88036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호출 시 1회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88036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Apple SD Gothic Neo"/>
              </a:defRPr>
            </a:pPr>
            <a:r>
              <a:t>지속적, 여러 턴에 걸쳐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초점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4747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무엇을 물어볼까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4747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Apple SD Gothic Neo"/>
              </a:defRPr>
            </a:pPr>
            <a:r>
              <a:t>AI가 이미 무엇을 알고 있을까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69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069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더 나은 문구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069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Apple SD Gothic Neo"/>
              </a:defRPr>
            </a:pPr>
            <a:r>
              <a:t>더 나은 시스템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핵심: 프롬프트 = '무엇을 물어볼까'  vs  컨텍스트 = 'AI가 이미 무엇을 알고 있을까'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컨텍스트의 7요소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Apple SD Gothic Neo"/>
              </a:defRPr>
            </a:pPr>
            <a:r>
              <a:t>AI에게 제공하는 정보를 7가지 층으로 설계합니다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91440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시스템 프롬프트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AI의 역할과 규칙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"너는 고객 응대 전문가야"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9144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pple SD Gothic Neo"/>
              </a:defRPr>
            </a:pPr>
            <a:r>
              <a:t>사용자 프롬프트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현재 과제/질문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"이 이메일에 답장 써줘"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9144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pple SD Gothic Neo"/>
              </a:defRPr>
            </a:pPr>
            <a:r>
              <a:t>대화 이력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지금까지의 맥락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이전 대화 내용 참조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3464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91440" cy="105156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장기 메모리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세션을 넘는 기억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지난주 작업 결과 기억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91440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pple SD Gothic Neo"/>
              </a:defRPr>
            </a:pPr>
            <a:r>
              <a:t>검색된 정보 (RAG)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필요한 문서·데이터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사내 매뉴얼 검색 후 참조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91440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사용 가능한 도구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API, MCP, 함수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Slack 전송, DB 조회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1208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91440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Apple SD Gothic Neo"/>
              </a:defRPr>
            </a:pPr>
            <a:r>
              <a:t>출력 형식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구조화된 응답 정의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JSON, 표, 마크다운 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Apple SD Gothic Neo"/>
              </a:defRPr>
            </a:pPr>
            <a:r>
              <a:t>핵심: 컨텍스트 엔지니어링 = 무엇을, 언제, 어떤 형식으로, 얼마나 가져올지 설계하는 상위 학문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ple SD Gothic Neo"/>
              </a:defRPr>
            </a:pPr>
            <a:r>
              <a:t>여기까지 정리하면...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0B0"/>
                </a:solidFill>
                <a:latin typeface="Apple SD Gothic Neo"/>
              </a:defRPr>
            </a:pPr>
            <a:r>
              <a:t>✓  모델은 충분히 똑똑해졌고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Apple SD Gothic Neo"/>
              </a:defRPr>
            </a:pPr>
            <a:r>
              <a:t>✓  도구 연결 표준(MCP)도 만들어졌고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C3AED"/>
                </a:solidFill>
                <a:latin typeface="Apple SD Gothic Neo"/>
              </a:defRPr>
            </a:pPr>
            <a:r>
              <a:t>✓  코드도 직접 쓰게 됐고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Apple SD Gothic Neo"/>
              </a:defRPr>
            </a:pPr>
            <a:r>
              <a:t>✓  컨텍스트 관리 방법도 진화했다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Apple SD Gothic Neo"/>
              </a:defRPr>
            </a:pPr>
            <a:r>
              <a:t>그렇다면 이 모든 것이 합쳐지면?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Apple SD Gothic Neo"/>
              </a:defRPr>
            </a:pPr>
            <a:r>
              <a:t>→  에이전틱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에이전틱 AI: 그래서 뭔데?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Apple SD Gothic Neo"/>
              </a:defRPr>
            </a:pPr>
            <a:r>
              <a:t>생성형 AI는 질문에 "답"한다.</a:t>
            </a:r>
            <a:br/>
            <a:r>
              <a:t>에이전틱 AI는 목표를 "달성"한다.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5303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Apple SD Gothic Neo"/>
              </a:defRPr>
            </a:pPr>
            <a:r>
              <a:t>🍳 생성형 AI = 레시피 알려주는 셰프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입력: "파스타 레시피 알려줘"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출력: 텍스트 (레시피)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도구: 없음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다음 단계: 사람이 지시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5303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Apple SD Gothic Neo"/>
              </a:defRPr>
            </a:pPr>
            <a:r>
              <a:t>🤖 에이전틱 AI = 요리+서빙까지 하는 셰프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입력: "저녁 파티 준비해줘"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출력: 행동 (장보기→요리→세팅→서빙)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도구: 냉장고, 가스레인지, 카드결제...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다음 단계: 스스로 결정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에이전틱 AI 작동 원리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91440" cy="8229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① 목표 수신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ple SD Gothic Neo"/>
              </a:defRPr>
            </a:pPr>
            <a:r>
              <a:t>"월간 매출 리포트 만들어줘"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pple SD Gothic Neo"/>
              </a:defRPr>
            </a:pPr>
            <a:r>
              <a:t>② 계획 수립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ple SD Gothic Neo"/>
              </a:defRPr>
            </a:pPr>
            <a:r>
              <a:t>DB 조회 → 분석 → 시각화 → 문서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ple SD Gothic Neo"/>
              </a:defRPr>
            </a:pPr>
            <a:r>
              <a:t>③ 도구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37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ple SD Gothic Neo"/>
              </a:defRPr>
            </a:pPr>
            <a:r>
              <a:t>SQL 쿼리, 차트 생성, 문서 작성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206240"/>
            <a:ext cx="9144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pple SD Gothic Neo"/>
              </a:defRPr>
            </a:pPr>
            <a:r>
              <a:t>④ 결과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343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ple SD Gothic Neo"/>
              </a:defRPr>
            </a:pPr>
            <a:r>
              <a:t>"차트가 불완전? 다시 해볼게"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1208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212080"/>
            <a:ext cx="91440" cy="82296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Apple SD Gothic Neo"/>
              </a:defRPr>
            </a:pPr>
            <a:r>
              <a:t>⑤ 반복/완료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349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ple SD Gothic Neo"/>
              </a:defRPr>
            </a:pPr>
            <a:r>
              <a:t>문제 해결까지 ③-④ 반복 → 완료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핵심: ②~⑤를 사람 개입 없이 자율적으로 수행하는 것이 에이전틱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에이전틱 AI 핵심 특성 6가지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자율성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단계별 지시 없이 목표를 향해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"리포트 만들어줘" 한 마디로 끝까지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pple SD Gothic Neo"/>
              </a:defRPr>
            </a:pPr>
            <a:r>
              <a:t>다단계 추론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복잡한 계획을 세우고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DB→분석→시각화→문서 파이프라인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ple SD Gothic Neo"/>
              </a:defRPr>
            </a:pPr>
            <a:r>
              <a:t>도구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API, DB, 파일시스템, 웹 접근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Slack 메시지 전송, SQL 쿼리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Apple SD Gothic Neo"/>
              </a:defRPr>
            </a:pPr>
            <a:r>
              <a:t>메모리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장기·단기 컨텍스트 유지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어제 작업 내용을 오늘도 기억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49039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pple SD Gothic Neo"/>
              </a:defRPr>
            </a:pPr>
            <a:r>
              <a:t>적응력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실패 시 계획 수정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API 오류 → 대안 경로 시도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49039"/>
            <a:ext cx="34747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Apple SD Gothic Neo"/>
              </a:defRPr>
            </a:pPr>
            <a:r>
              <a:t>목표 지향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인식→추론→행동 루프 반복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Apple SD Gothic Neo"/>
              </a:defRPr>
            </a:pPr>
            <a:r>
              <a:t>예: 결과가 만족스러울 때까지 반복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AI의 진화 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325880"/>
            <a:ext cx="1828800" cy="548640"/>
          </a:xfrm>
          <a:prstGeom prst="round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Apple SD Gothic Neo"/>
              </a:defRPr>
            </a:pPr>
            <a:r>
              <a:t>1세대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~2022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pple SD Gothic Neo"/>
              </a:defRPr>
            </a:pPr>
            <a:r>
              <a:t>규칙 기반 챗봇 — FAQ 매칭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377440"/>
            <a:ext cx="3657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Apple SD Gothic Neo"/>
              </a:defRPr>
            </a:pPr>
            <a:r>
              <a:t>2세대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40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pple SD Gothic Neo"/>
              </a:defRPr>
            </a:pPr>
            <a:r>
              <a:t>생성형 AI — 질문하면 답변 (ChatGPT)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428999"/>
            <a:ext cx="548640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Apple SD Gothic Neo"/>
              </a:defRPr>
            </a:pPr>
            <a:r>
              <a:t>3세대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289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pple SD Gothic Neo"/>
              </a:defRPr>
            </a:pPr>
            <a:r>
              <a:t>코파일럿 — 옆에서 제안 (Copilot)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480560"/>
            <a:ext cx="73152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4세대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pple SD Gothic Neo"/>
              </a:defRPr>
            </a:pPr>
            <a:r>
              <a:t>단일 에이전트 — 혼자서 일 처리 (Claude Code)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532119"/>
            <a:ext cx="9144000" cy="548640"/>
          </a:xfrm>
          <a:prstGeom prst="round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9495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4B71"/>
                </a:solidFill>
                <a:latin typeface="Apple SD Gothic Neo"/>
              </a:defRPr>
            </a:pPr>
            <a:r>
              <a:t>5세대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5321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pple SD Gothic Neo"/>
              </a:defRPr>
            </a:pPr>
            <a:r>
              <a:t>멀티 에이전트 — 팀으로 협업 (Agent Teams)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우리는 지금 4세대 → 5세대 전환기에 있습니다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싱글 에이전트 vs 멀티 에이전트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A0B0"/>
                </a:solidFill>
                <a:latin typeface="Apple SD Gothic Neo"/>
              </a:defRPr>
            </a:pPr>
            <a:r>
              <a:t>싱글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하나의 AI가 모든 것을 처리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컨텍스트 윈도우 한계에 부딪힘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범용적이지만 전문성 부족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DevOps 사례: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실행 가능 권고안 1.7% 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Apple SD Gothic Neo"/>
              </a:defRPr>
            </a:pPr>
            <a:r>
              <a:t>멀티 에이전트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전문 에이전트들이 역할 분담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병렬 실행으로 속도 향상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오케스트레이터가 조율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DevOps 사례: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실행 가능 권고안 100% 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D2FF"/>
                </a:solidFill>
                <a:latin typeface="Apple SD Gothic Neo"/>
              </a:defRPr>
            </a:pPr>
            <a:r>
              <a:t>Gartner: 멀티 에이전트 시스템 문의 1,445% 급증 (2024 Q1 → 2025 Q2)</a:t>
            </a:r>
          </a:p>
          <a:p>
            <a:pPr>
              <a:spcAft>
                <a:spcPts val="800"/>
              </a:spcAft>
              <a:defRPr sz="1500">
                <a:solidFill>
                  <a:srgbClr val="00D2FF"/>
                </a:solidFill>
                <a:latin typeface="Apple SD Gothic Neo"/>
              </a:defRPr>
            </a:pPr>
            <a:r>
              <a:t>시장 규모: $7.8B → $52B+ (2030 예측)</a:t>
            </a:r>
          </a:p>
          <a:p>
            <a:pPr>
              <a:spcAft>
                <a:spcPts val="800"/>
              </a:spcAft>
              <a:defRPr sz="1500">
                <a:solidFill>
                  <a:srgbClr val="00D2FF"/>
                </a:solidFill>
                <a:latin typeface="Apple SD Gothic Neo"/>
              </a:defRPr>
            </a:pPr>
            <a:r>
              <a:t>에이전틱 AI 성패 = 모델이 아니라 오케스트레이션(조율)에 달려 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주요 에이전트 프레임워크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에이전틱 AI를 구축하는 여러 도구들 — n8n은 어디에 위치할까?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LG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Apple SD Gothic Neo"/>
              </a:defRPr>
            </a:pPr>
            <a:r>
              <a:t>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코드(Python), 그래프 상태 머신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복잡한 커스텀 에이전트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pple SD Gothic Neo"/>
              </a:defRPr>
            </a:pPr>
            <a:r>
              <a:t>🔴 높음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9144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Apple SD Gothic Neo"/>
              </a:defRPr>
            </a:pPr>
            <a:r>
              <a:t>CrewAI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코드(Python), 역할 기반 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멀티에이전트 프로토타입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pple SD Gothic Neo"/>
              </a:defRPr>
            </a:pPr>
            <a:r>
              <a:t>🟡 중간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91440" cy="685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Apple SD Gothic Neo"/>
              </a:defRPr>
            </a:pPr>
            <a:r>
              <a:t>OpenAI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코드(Python), 최소주의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OpenAI 생태계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Apple SD Gothic Neo"/>
              </a:defRPr>
            </a:pPr>
            <a:r>
              <a:t>🟢 낮음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9476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94760"/>
            <a:ext cx="91440" cy="6858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600"/>
                </a:solidFill>
                <a:latin typeface="Apple SD Gothic Neo"/>
              </a:defRPr>
            </a:pPr>
            <a:r>
              <a:t>Claude SDK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코드, MCP 네이티브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Claude 기반 에이전트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886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Apple SD Gothic Neo"/>
              </a:defRPr>
            </a:pPr>
            <a:r>
              <a:t>🟡 중간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572000"/>
            <a:ext cx="91440" cy="68580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4663440"/>
            <a:ext cx="502920" cy="502920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n8n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A4B71"/>
                </a:solidFill>
                <a:latin typeface="Apple SD Gothic Neo"/>
              </a:defRPr>
            </a:pPr>
            <a:r>
              <a:t>n8n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ple SD Gothic Neo"/>
              </a:defRPr>
            </a:pPr>
            <a:r>
              <a:t>시각적 노코드/로우코드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비즈니스 팀 + 개발팀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4B71"/>
                </a:solidFill>
                <a:latin typeface="Apple SD Gothic Neo"/>
              </a:defRPr>
            </a:pPr>
            <a:r>
              <a:t>🟢 낮음 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94960"/>
            <a:ext cx="109728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우리 팀(수입차 업계 IT)에서 n8n이 적합한 이유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pple SD Gothic Neo"/>
              </a:defRPr>
            </a:pPr>
            <a:r>
              <a:t>Self-hosted로 고객/딜러 데이터 보호  |  비개발자도 워크플로우 수정 가능  |  500+ 앱 연동 (Slack, 이메일, CRM)  |  Self-hosted 무료 vs SaaS 월 수백달러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에이전틱 AI 채택 현실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B35"/>
                </a:solidFill>
                <a:latin typeface="Apple SD Gothic Neo"/>
              </a:defRPr>
            </a:pPr>
            <a:r>
              <a:t>11%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ple SD Gothic Neo"/>
              </a:defRPr>
            </a:pPr>
            <a:r>
              <a:t>만이 실제 운영에 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Apple SD Gothic Neo"/>
              </a:defRPr>
            </a:pPr>
            <a:r>
              <a:t>(Deloitte 2026 조사)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35"/>
                </a:solidFill>
                <a:latin typeface="Apple SD Gothic Neo"/>
              </a:defRPr>
            </a:pPr>
            <a:r>
              <a:t>89%는 왜 실운영에 도달하지 못하는가?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탐색 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2194560" cy="502920"/>
          </a:xfrm>
          <a:prstGeom prst="round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A0B0"/>
                </a:solidFill>
                <a:latin typeface="Apple SD Gothic Neo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파일럿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27432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pple SD Gothic Neo"/>
              </a:defRPr>
            </a:pPr>
            <a: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배포 준비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43200"/>
            <a:ext cx="100584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실제 운영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520439"/>
            <a:ext cx="82296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5661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pple SD Gothic Neo"/>
              </a:defRPr>
            </a:pPr>
            <a:r>
              <a:t>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실운영 도달을 위한 5가지 조건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ple SD Gothic Neo"/>
              </a:defRPr>
            </a:pPr>
            <a:r>
              <a:t>데이터 파이프라인 정비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Apple SD Gothic Neo"/>
              </a:defRPr>
            </a:pPr>
            <a:r>
              <a:t>n8n 지원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ple SD Gothic Neo"/>
              </a:defRPr>
            </a:pPr>
            <a:r>
              <a:t>거버넌스/보안 프레임워크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Apple SD Gothic Neo"/>
              </a:defRPr>
            </a:pPr>
            <a:r>
              <a:t>n8n 지원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ple SD Gothic Neo"/>
              </a:defRPr>
            </a:pPr>
            <a:r>
              <a:t>레거시 시스템 API 연동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Apple SD Gothic Neo"/>
              </a:defRPr>
            </a:pPr>
            <a:r>
              <a:t>n8n 지원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600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ple SD Gothic Neo"/>
              </a:defRPr>
            </a:pPr>
            <a:r>
              <a:t>조직 내 AI 리터러시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ple SD Gothic Neo"/>
              </a:defRPr>
            </a:pPr>
            <a:r>
              <a:t>점진적 도입 (파일럿 -&gt; 확대)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4B71"/>
                </a:solidFill>
                <a:latin typeface="Apple SD Gothic Neo"/>
              </a:defRPr>
            </a:pPr>
            <a:r>
              <a:t>n8n은 데이터 연결, API 연동, 점진적 도입을 직접 지원 -- 실운영 도달의 핵심 조력자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A4B71"/>
                </a:solidFill>
                <a:latin typeface="Apple SD Gothic Neo"/>
              </a:defRPr>
            </a:pPr>
            <a:r>
              <a:t>n8n: 에이전틱 AI를 실현하는 플랫폼</a:t>
            </a:r>
          </a:p>
        </p:txBody>
      </p:sp>
      <p:sp>
        <p:nvSpPr>
          <p:cNvPr id="3" name="Oval 2"/>
          <p:cNvSpPr/>
          <p:nvPr/>
        </p:nvSpPr>
        <p:spPr>
          <a:xfrm>
            <a:off x="9875520" y="137160"/>
            <a:ext cx="822960" cy="822960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n8n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정체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Fair-code 워크플로우 자동화 + AI 플랫폼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철학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"코드의 유연성 + 노코드의 속도"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500+ 앱/서비스 연동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LangChain 기반 70+ AI 전용 노드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배포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Self-hosted (무료) 또는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175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272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규모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$2.5B 밸류에이션, Nvidia 투자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Apple SD Gothic Neo"/>
              </a:defRPr>
            </a:pPr>
            <a:r>
              <a:t>$180M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Series C (Nvidia 참여)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Apple SD Gothic Neo"/>
              </a:defRPr>
            </a:pPr>
            <a:r>
              <a:t>$40M+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ARR (전년 대비 10x)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Apple SD Gothic Neo"/>
              </a:defRPr>
            </a:pPr>
            <a:r>
              <a:t>3,000+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엔터프라이즈 고객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Apple SD Gothic Neo"/>
              </a:defRPr>
            </a:pPr>
            <a: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고객 AI 도구 활용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n8n × 에이전틱 AI 조건 매칭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자율성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트리거 기반 자동 실행</a:t>
            </a:r>
            <a:br/>
            <a:r>
              <a:t>(Webhook, 스케줄, 이벤트)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pple SD Gothic Neo"/>
              </a:defRPr>
            </a:pPr>
            <a:r>
              <a:t>다단계 추론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AI Agent 노드</a:t>
            </a:r>
            <a:br/>
            <a:r>
              <a:t>Plan &amp; Execute 패턴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ple SD Gothic Neo"/>
              </a:defRPr>
            </a:pPr>
            <a:r>
              <a:t>도구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500+ 통합 + MCP</a:t>
            </a:r>
            <a:br/>
            <a:r>
              <a:t>Client/Server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Apple SD Gothic Neo"/>
              </a:defRPr>
            </a:pPr>
            <a:r>
              <a:t>메모리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Simple / PostgreSQL</a:t>
            </a:r>
            <a:br/>
            <a:r>
              <a:t>/ Redis 메모리 노드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749039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pple SD Gothic Neo"/>
              </a:defRPr>
            </a:pPr>
            <a:r>
              <a:t>적응력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조건 분기, 에러 핸들링</a:t>
            </a:r>
            <a:br/>
            <a:r>
              <a:t>재시도 로직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749039"/>
            <a:ext cx="34747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Apple SD Gothic Neo"/>
              </a:defRPr>
            </a:pPr>
            <a:r>
              <a:t>목표 지향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워크플로우 = 목표 달성까지의</a:t>
            </a:r>
            <a:br/>
            <a:r>
              <a:t>전체 파이프라인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n8n의 독보적 포지션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Apple SD Gothic Neo"/>
              </a:defRPr>
            </a:pPr>
            <a:r>
              <a:t>에이전틱 AI 도구 스펙트럼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09728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← 코드 전문가용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비즈니스 팀용 →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9202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Apple SD Gothic Neo"/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Apple SD Gothic Neo"/>
              </a:defRPr>
            </a:pPr>
            <a:r>
              <a:t>🔴 높음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19202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Apple SD Gothic Neo"/>
              </a:defRPr>
            </a:pPr>
            <a:r>
              <a:t>CrewAI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Apple SD Gothic Neo"/>
              </a:defRPr>
            </a:pPr>
            <a:r>
              <a:t>🟡 중간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1920240"/>
            <a:ext cx="365760" cy="3657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Apple SD Gothic Neo"/>
              </a:defRPr>
            </a:pPr>
            <a:r>
              <a:t>Agent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Apple SD Gothic Neo"/>
              </a:defRPr>
            </a:pPr>
            <a:r>
              <a:t>🟡 중간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1920240"/>
            <a:ext cx="365760" cy="36576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4B71"/>
                </a:solidFill>
                <a:latin typeface="Apple SD Gothic Neo"/>
              </a:defRPr>
            </a:pPr>
            <a:r>
              <a:t>n8n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Apple SD Gothic Neo"/>
              </a:defRPr>
            </a:pPr>
            <a:r>
              <a:t>🟢 낮음 ⭐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1920240"/>
            <a:ext cx="365760" cy="365760"/>
          </a:xfrm>
          <a:prstGeom prst="ellipse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A0B0"/>
                </a:solidFill>
                <a:latin typeface="Apple SD Gothic Neo"/>
              </a:defRPr>
            </a:pPr>
            <a:r>
              <a:t>Zapier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Apple SD Gothic Neo"/>
              </a:defRPr>
            </a:pPr>
            <a:r>
              <a:t>🟢 낮음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4B71"/>
                </a:solidFill>
                <a:latin typeface="Apple SD Gothic Neo"/>
              </a:defRPr>
            </a:pPr>
            <a:r>
              <a:t>n8n = "코드의 유연성 + 노코드의 속도" = Sweet Spot 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Apple SD Gothic Neo"/>
              </a:defRPr>
            </a:pPr>
            <a:r>
              <a:t>vs LangGraph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Apple SD Gothic Neo"/>
              </a:defRPr>
            </a:pPr>
            <a:r>
              <a:t>✅ 시각적 빌더, 빠른 구축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Apple SD Gothic Neo"/>
              </a:defRPr>
            </a:pPr>
            <a:r>
              <a:t>⚠️ 복잡한 상태 머신 열세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Apple SD Gothic Neo"/>
              </a:defRPr>
            </a:pPr>
            <a:r>
              <a:t>vs CrewAI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Apple SD Gothic Neo"/>
              </a:defRPr>
            </a:pPr>
            <a:r>
              <a:t>✅ Self-hosted, 데이터 주권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Apple SD Gothic Neo"/>
              </a:defRPr>
            </a:pPr>
            <a:r>
              <a:t>⚠️ 정교한 크루 구조 열세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Apple SD Gothic Neo"/>
              </a:defRPr>
            </a:pPr>
            <a:r>
              <a:t>vs Zapier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Apple SD Gothic Neo"/>
              </a:defRPr>
            </a:pPr>
            <a:r>
              <a:t>✅ JS/Python 코드 가능, 비용 효율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Apple SD Gothic Neo"/>
              </a:defRPr>
            </a:pPr>
            <a:r>
              <a:t>⚠️ 통합 수 (500 vs 7,000)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n8n = 에이전틱 MCP 허브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Apple SD Gothic Neo"/>
              </a:defRPr>
            </a:pPr>
            <a:r>
              <a:t>n8n은 MCP를 양방향으로 지원 (2025.04~)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0040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Apple SD Gothic Neo"/>
              </a:defRPr>
            </a:pPr>
            <a:r>
              <a:t>외부 MCP 서버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GitHub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Slack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PostgreSQL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파일시스템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4114800" cy="2743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ple SD Gothic Neo"/>
              </a:defRPr>
            </a:pPr>
            <a:r>
              <a:t>n8n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ple SD Gothic Neo"/>
              </a:defRPr>
            </a:pPr>
            <a:r>
              <a:t>MCP Client → 도구 소비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ple SD Gothic Neo"/>
              </a:defRPr>
            </a:pPr>
            <a:r>
              <a:t>AI Agent → 오케스트레이션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ple SD Gothic Neo"/>
              </a:defRPr>
            </a:pPr>
            <a:r>
              <a:t>MCP Server → 도구 노출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320040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4B71"/>
                </a:solidFill>
                <a:latin typeface="Apple SD Gothic Neo"/>
              </a:defRPr>
            </a:pPr>
            <a:r>
              <a:t>외부 MCP 클라이언트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4688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Claude Desktop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Cursor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VS Code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다른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D2FF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A4B71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ple SD Gothic Neo"/>
              </a:defRPr>
            </a:pPr>
            <a:r>
              <a:t>실제 워크플로우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Apple SD Gothic Neo"/>
              </a:defRPr>
            </a:pPr>
            <a:r>
              <a:t>고객 문의 자동응대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이메일 수신 → AI 분류(시승/AS/견적) → CRM 조회 → 자동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pple SD Gothic Neo"/>
              </a:defRPr>
            </a:pPr>
            <a:r>
              <a:t>시장 인텔리전스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주간 스케줄 → 경쟁사 가격/프로모션 수집 → 동향 리포트 → 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pple SD Gothic Neo"/>
              </a:defRPr>
            </a:pPr>
            <a:r>
              <a:t>예측 정비 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Apple SD Gothic Neo"/>
              </a:defRPr>
            </a:pPr>
            <a:r>
              <a:t>센서 데이터 → 이상 패턴 분석 → 고객 사전 알림 → 서비스 예약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자동차 업계 AI + n8n 도입 사례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Mercedes-Benz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MBUX AI 에이전트 (차량 내 음성+제스처)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멀티모달 에이전트 상용화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ple SD Gothic Neo"/>
              </a:defRPr>
            </a:pPr>
            <a:r>
              <a:t>BMW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딜러 고객 응대 자동화 + Neue Klasse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CS 처리 시간 단축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91839"/>
            <a:ext cx="10972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289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pple SD Gothic Neo"/>
              </a:defRPr>
            </a:pPr>
            <a:r>
              <a:t>Volvo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89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예측 정비 AI — 센서 데이터 자동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2899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사전 정비율 향상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pple SD Gothic Neo"/>
              </a:defRPr>
            </a:pPr>
            <a:r>
              <a:t>Delivery Hero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운영 자동화 워크플로우 (n8n)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월 200시간 절약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5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94959"/>
            <a:ext cx="109728" cy="91440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321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Apple SD Gothic Neo"/>
              </a:defRPr>
            </a:pPr>
            <a:r>
              <a:t>BeGlobal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321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ple SD Gothic Neo"/>
              </a:defRPr>
            </a:pPr>
            <a:r>
              <a:t>AI 맞춤 제안서 생성 (n8n)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5321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10배 확장, 1분 이내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솔직한 평가: 가능성과 과제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Apple SD Gothic Neo"/>
              </a:defRPr>
            </a:pPr>
            <a:r>
              <a:t>✅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노코드/로우코드로 에이전트 민주화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Self-hosted로 데이터 주권 확보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500+ 통합으로 레거시 시스템 연결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MCP 양방향 지원 → 생태계 허브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시각적 빌더로 빠른 프로토타이핑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ple SD Gothic Neo"/>
              </a:defRPr>
            </a:pPr>
            <a:r>
              <a:t>Nvidia 투자, $2.5B 밸류에이션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Apple SD Gothic Neo"/>
              </a:defRPr>
            </a:pPr>
            <a:r>
              <a:t>⚠️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복잡한 에이전트 로직 → 코드가 유리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엔터프라이즈 거버넌스·보안 검증 필요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LLM 토큰 비용 관리 필요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MCP 자체의 효율성 논쟁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프로덕션 안정성 추가 검증 필요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Apple SD Gothic Neo"/>
              </a:defRPr>
            </a:pPr>
            <a:r>
              <a:t>성공 보장은 없음 (11%만 실운영)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4B71"/>
                </a:solidFill>
                <a:latin typeface="Apple SD Gothic Neo"/>
              </a:defRPr>
            </a:pPr>
            <a:r>
              <a:t>성공할지 실패할지는 차치하고 — 시도 자체가 학습이다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사내 시스템 연동: API가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Apple SD Gothic Neo"/>
              </a:defRPr>
            </a:pPr>
            <a:r>
              <a:t>에이전틱 AI가 실제로 작동하려면, 사내 시스템이 API로 접근 가능해야 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828800" cy="7315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사용자 요청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2011680" cy="731520"/>
          </a:xfrm>
          <a:prstGeom prst="roundRect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n8n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103120"/>
            <a:ext cx="1828800" cy="73152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45920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645920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DMS (딜러 관리)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286000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2860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CRM (고객 관리)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926080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926080"/>
            <a:ext cx="73152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ERP (재고/회계)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566159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3566159"/>
            <a:ext cx="73152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611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ple SD Gothic Neo"/>
              </a:defRPr>
            </a:pPr>
            <a:r>
              <a:t>서비스 예약 시스템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많은 사내 시스템이 API 미제공 또는 제한적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데이터가 사일로(Silo)에 갇혀 있음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Apple SD Gothic Neo"/>
              </a:defRPr>
            </a:pPr>
            <a:r>
              <a:t>수동 데이터 추출/입력에 의존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14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pple SD Gothic Neo"/>
              </a:defRPr>
            </a:pPr>
            <a:r>
              <a:t>필요 액션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ple SD Gothic Neo"/>
              </a:defRPr>
            </a:pPr>
            <a:r>
              <a:t>주요 시스템 API 개발/개방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ple SD Gothic Neo"/>
              </a:defRPr>
            </a:pPr>
            <a:r>
              <a:t>API Gateway 표준화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ple SD Gothic Neo"/>
              </a:defRPr>
            </a:pPr>
            <a:r>
              <a:t>데이터 흐름 설계 (n8n으로 연결)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Apple SD Gothic Neo"/>
              </a:defRPr>
            </a:pPr>
            <a:r>
              <a:t>AI 에이전트의 성공 = API 인프라의 성숙도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전체 흐름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097280"/>
            <a:ext cx="91440" cy="731520"/>
          </a:xfrm>
          <a:prstGeom prst="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모델이 똑똑해졌다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Apple SD Gothic Neo"/>
              </a:defRPr>
            </a:pPr>
            <a:r>
              <a:t>LLM 경쟁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96596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965960"/>
            <a:ext cx="9144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도구를 쓸 수 있게 됐다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FF"/>
                </a:solidFill>
                <a:latin typeface="Apple SD Gothic Neo"/>
              </a:defRPr>
            </a:pPr>
            <a:r>
              <a:t>MCP, 네이티브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834639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834639"/>
            <a:ext cx="9144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9260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코드도 직접 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C3AED"/>
                </a:solidFill>
                <a:latin typeface="Apple SD Gothic Neo"/>
              </a:defRPr>
            </a:pPr>
            <a:r>
              <a:t>CLI, 바이브 코딩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3832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70332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703320"/>
            <a:ext cx="9144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컨텍스트를 관리한다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  <a:latin typeface="Apple SD Gothic Neo"/>
              </a:defRPr>
            </a:pPr>
            <a:r>
              <a:t>컨텍스트 엔지니어링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57200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4572000"/>
            <a:ext cx="91440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혼자서 일을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6B35"/>
                </a:solidFill>
                <a:latin typeface="Apple SD Gothic Neo"/>
              </a:defRPr>
            </a:pPr>
            <a:r>
              <a:t>에이전틱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44068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5440680"/>
            <a:ext cx="91440" cy="73152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팀으로 협업한다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A4B71"/>
                </a:solidFill>
                <a:latin typeface="Apple SD Gothic Neo"/>
              </a:defRPr>
            </a:pPr>
            <a:r>
              <a:t>멀티 에이전트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4B71"/>
                </a:solidFill>
                <a:latin typeface="Apple SD Gothic Neo"/>
              </a:defRPr>
            </a:pPr>
            <a:r>
              <a:t>★ 이 모든 것을 시각적으로 조합하고 실행하는 플랫폼 = n8n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다음 스텝 제안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Apple SD Gothic Neo"/>
              </a:defRPr>
            </a:pPr>
            <a:r>
              <a:t>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n8n Self-hosted 설치</a:t>
            </a:r>
            <a:br/>
            <a:r>
              <a:t>기본 워크플로우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도구 익히기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Apple SD Gothic Neo"/>
              </a:defRPr>
            </a:pPr>
            <a:r>
              <a:t>2주차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AI Agent 노드로</a:t>
            </a:r>
            <a:br/>
            <a:r>
              <a:t>간단한 자동화 구축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가능성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Apple SD Gothic Neo"/>
              </a:defRPr>
            </a:pPr>
            <a:r>
              <a:t>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실제 업무 하나를</a:t>
            </a:r>
            <a:br/>
            <a:r>
              <a:t>에이전틱 워크플로우로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실무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4B71"/>
                </a:solidFill>
                <a:latin typeface="Apple SD Gothic Neo"/>
              </a:defRPr>
            </a:pPr>
            <a:r>
              <a:t>4주차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ple SD Gothic Neo"/>
              </a:defRPr>
            </a:pPr>
            <a:r>
              <a:t>팀 리뷰</a:t>
            </a:r>
            <a:br/>
            <a:r>
              <a:t>확대 적용 여부 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Apple SD Gothic Neo"/>
              </a:defRPr>
            </a:pPr>
            <a:r>
              <a:t>Go / No-Go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"에이전틱 AI의 성패는</a:t>
            </a:r>
            <a:br/>
            <a:r>
              <a:t>모델이 아니라 오케스트레이션에 달려 있다"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200400"/>
            <a:ext cx="4572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B0"/>
                </a:solidFill>
                <a:latin typeface="Apple SD Gothic Neo"/>
              </a:defRPr>
            </a:pPr>
            <a:r>
              <a:t>성공할지 실패할지는 아직 모른다.</a:t>
            </a:r>
            <a:br/>
            <a:r>
              <a:t>하지만 해보지 않으면 영원히 모른다.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4B71"/>
                </a:solidFill>
                <a:latin typeface="Apple SD Gothic Neo"/>
              </a:defRPr>
            </a:pPr>
            <a:r>
              <a:t>에이전틱 AI 시대는 이미 시작되었고,</a:t>
            </a:r>
            <a:br/>
            <a:r>
              <a:t>n8n은 그 시작을 가장 낮은 문턱에서 열어준다.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ple SD Gothic Neo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Apple SD Gothic Neo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